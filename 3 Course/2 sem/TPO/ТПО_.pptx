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omfortaa SemiBold"/>
      <p:regular r:id="rId21"/>
      <p:bold r:id="rId22"/>
    </p:embeddedFont>
    <p:embeddedFont>
      <p:font typeface="Teko"/>
      <p:regular r:id="rId23"/>
      <p:bold r:id="rId24"/>
    </p:embeddedFont>
    <p:embeddedFont>
      <p:font typeface="Montserrat"/>
      <p:regular r:id="rId25"/>
      <p:bold r:id="rId26"/>
      <p:italic r:id="rId27"/>
      <p:boldItalic r:id="rId28"/>
    </p:embeddedFont>
    <p:embeddedFont>
      <p:font typeface="Comfortaa Medium"/>
      <p:regular r:id="rId29"/>
      <p:bold r:id="rId30"/>
    </p:embeddedFont>
    <p:embeddedFont>
      <p:font typeface="Comfortaa"/>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omfortaaSemiBold-bold.fntdata"/><Relationship Id="rId21" Type="http://schemas.openxmlformats.org/officeDocument/2006/relationships/font" Target="fonts/ComfortaaSemiBold-regular.fntdata"/><Relationship Id="rId24" Type="http://schemas.openxmlformats.org/officeDocument/2006/relationships/font" Target="fonts/Teko-bold.fntdata"/><Relationship Id="rId23" Type="http://schemas.openxmlformats.org/officeDocument/2006/relationships/font" Target="fonts/Tek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mfortaa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mfortaa-regular.fntdata"/><Relationship Id="rId30" Type="http://schemas.openxmlformats.org/officeDocument/2006/relationships/font" Target="fonts/ComfortaaMedium-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Comfortaa-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64bb5eac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g3464bb5eac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64bb5eac8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g3464bb5eac8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64bb5eac8_0_7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g3464bb5eac8_0_7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64bb5eac8_0_7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464bb5eac8_0_7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64bb5eac8_0_4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464bb5eac8_0_4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64bb5eac8_0_7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464bb5eac8_0_7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64bb5eac8_0_7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464bb5eac8_0_7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464bb5eac8_0_7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3464bb5eac8_0_7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64bb5eac8_0_7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464bb5eac8_0_7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64bb5eac8_0_7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464bb5eac8_0_7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64bb5eac8_0_8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464bb5eac8_0_8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464bb5eac8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464bb5eac8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464bb5eac8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3464bb5eac8_0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64bb5eac8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g3464bb5eac8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464bb5eac8_0_8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3" name="Google Shape;373;g3464bb5eac8_0_8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22.png"/><Relationship Id="rId7"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250112" y="-63819"/>
            <a:ext cx="9469553" cy="5271138"/>
          </a:xfrm>
          <a:prstGeom prst="rect">
            <a:avLst/>
          </a:prstGeom>
          <a:noFill/>
          <a:ln>
            <a:noFill/>
          </a:ln>
        </p:spPr>
      </p:pic>
      <p:grpSp>
        <p:nvGrpSpPr>
          <p:cNvPr id="55" name="Google Shape;55;p13"/>
          <p:cNvGrpSpPr/>
          <p:nvPr/>
        </p:nvGrpSpPr>
        <p:grpSpPr>
          <a:xfrm>
            <a:off x="5783265" y="496122"/>
            <a:ext cx="2846352" cy="4069062"/>
            <a:chOff x="0" y="-47625"/>
            <a:chExt cx="1646718" cy="2354100"/>
          </a:xfrm>
        </p:grpSpPr>
        <p:sp>
          <p:nvSpPr>
            <p:cNvPr id="56" name="Google Shape;56;p13"/>
            <p:cNvSpPr/>
            <p:nvPr/>
          </p:nvSpPr>
          <p:spPr>
            <a:xfrm>
              <a:off x="0" y="0"/>
              <a:ext cx="1646718" cy="2306376"/>
            </a:xfrm>
            <a:custGeom>
              <a:rect b="b" l="l" r="r" t="t"/>
              <a:pathLst>
                <a:path extrusionOk="0" h="2306376" w="1646718">
                  <a:moveTo>
                    <a:pt x="0" y="0"/>
                  </a:moveTo>
                  <a:lnTo>
                    <a:pt x="1646718" y="0"/>
                  </a:lnTo>
                  <a:lnTo>
                    <a:pt x="1646718" y="2306376"/>
                  </a:lnTo>
                  <a:lnTo>
                    <a:pt x="0" y="2306376"/>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57" name="Google Shape;57;p13"/>
            <p:cNvSpPr txBox="1"/>
            <p:nvPr/>
          </p:nvSpPr>
          <p:spPr>
            <a:xfrm>
              <a:off x="0" y="-47625"/>
              <a:ext cx="1646700" cy="23541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8" name="Google Shape;58;p13"/>
          <p:cNvGrpSpPr/>
          <p:nvPr/>
        </p:nvGrpSpPr>
        <p:grpSpPr>
          <a:xfrm>
            <a:off x="6540232" y="496117"/>
            <a:ext cx="1404925" cy="204907"/>
            <a:chOff x="0" y="-47625"/>
            <a:chExt cx="812800" cy="118539"/>
          </a:xfrm>
        </p:grpSpPr>
        <p:sp>
          <p:nvSpPr>
            <p:cNvPr id="59" name="Google Shape;59;p1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60" name="Google Shape;60;p1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1" name="Google Shape;61;p13"/>
          <p:cNvGrpSpPr/>
          <p:nvPr/>
        </p:nvGrpSpPr>
        <p:grpSpPr>
          <a:xfrm rot="5400000">
            <a:off x="5183252" y="2469295"/>
            <a:ext cx="1404925" cy="204895"/>
            <a:chOff x="0" y="-47625"/>
            <a:chExt cx="812800" cy="118539"/>
          </a:xfrm>
        </p:grpSpPr>
        <p:sp>
          <p:nvSpPr>
            <p:cNvPr id="62" name="Google Shape;62;p1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63" name="Google Shape;63;p1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4" name="Google Shape;64;p13"/>
          <p:cNvGrpSpPr/>
          <p:nvPr/>
        </p:nvGrpSpPr>
        <p:grpSpPr>
          <a:xfrm rot="5400000">
            <a:off x="7907060" y="2469295"/>
            <a:ext cx="1404925" cy="204895"/>
            <a:chOff x="0" y="-47625"/>
            <a:chExt cx="812800" cy="118539"/>
          </a:xfrm>
        </p:grpSpPr>
        <p:sp>
          <p:nvSpPr>
            <p:cNvPr id="65" name="Google Shape;65;p1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66" name="Google Shape;66;p1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7" name="Google Shape;67;p13"/>
          <p:cNvGrpSpPr/>
          <p:nvPr/>
        </p:nvGrpSpPr>
        <p:grpSpPr>
          <a:xfrm>
            <a:off x="6540232" y="4360156"/>
            <a:ext cx="1404925" cy="204907"/>
            <a:chOff x="0" y="-47625"/>
            <a:chExt cx="812800" cy="118539"/>
          </a:xfrm>
        </p:grpSpPr>
        <p:sp>
          <p:nvSpPr>
            <p:cNvPr id="68" name="Google Shape;68;p1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69" name="Google Shape;69;p1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70" name="Google Shape;70;p13"/>
          <p:cNvSpPr txBox="1"/>
          <p:nvPr/>
        </p:nvSpPr>
        <p:spPr>
          <a:xfrm>
            <a:off x="725800" y="1109650"/>
            <a:ext cx="4416000" cy="2195100"/>
          </a:xfrm>
          <a:prstGeom prst="rect">
            <a:avLst/>
          </a:prstGeom>
          <a:noFill/>
          <a:ln>
            <a:noFill/>
          </a:ln>
        </p:spPr>
        <p:txBody>
          <a:bodyPr anchorCtr="0" anchor="t" bIns="0" lIns="0" spcFirstLastPara="1" rIns="0" wrap="square" tIns="0">
            <a:spAutoFit/>
          </a:bodyPr>
          <a:lstStyle/>
          <a:p>
            <a:pPr indent="0" lvl="0" marL="0" marR="0" rtl="0" algn="l">
              <a:lnSpc>
                <a:spcPct val="120014"/>
              </a:lnSpc>
              <a:spcBef>
                <a:spcPts val="0"/>
              </a:spcBef>
              <a:spcAft>
                <a:spcPts val="0"/>
              </a:spcAft>
              <a:buClr>
                <a:srgbClr val="000000"/>
              </a:buClr>
              <a:buSzPts val="7700"/>
              <a:buFont typeface="Arial"/>
              <a:buNone/>
            </a:pPr>
            <a:r>
              <a:rPr b="1" lang="ru" sz="3100">
                <a:solidFill>
                  <a:srgbClr val="FFFFFF"/>
                </a:solidFill>
                <a:latin typeface="Comfortaa"/>
                <a:ea typeface="Comfortaa"/>
                <a:cs typeface="Comfortaa"/>
                <a:sym typeface="Comfortaa"/>
              </a:rPr>
              <a:t>Почему важно тестирование ПО: реальные примеры провалов</a:t>
            </a:r>
            <a:r>
              <a:rPr b="1" i="0" lang="ru" sz="3100" u="none" cap="none" strike="noStrike">
                <a:solidFill>
                  <a:srgbClr val="FFFFFF"/>
                </a:solidFill>
                <a:latin typeface="Comfortaa"/>
                <a:ea typeface="Comfortaa"/>
                <a:cs typeface="Comfortaa"/>
                <a:sym typeface="Comfortaa"/>
              </a:rPr>
              <a:t> </a:t>
            </a:r>
            <a:endParaRPr b="1" i="0" sz="3100" u="none" cap="none" strike="noStrike">
              <a:solidFill>
                <a:srgbClr val="000000"/>
              </a:solidFill>
              <a:latin typeface="Comfortaa"/>
              <a:ea typeface="Comfortaa"/>
              <a:cs typeface="Comfortaa"/>
              <a:sym typeface="Comfortaa"/>
            </a:endParaRPr>
          </a:p>
        </p:txBody>
      </p:sp>
      <p:sp>
        <p:nvSpPr>
          <p:cNvPr id="71" name="Google Shape;71;p13"/>
          <p:cNvSpPr/>
          <p:nvPr/>
        </p:nvSpPr>
        <p:spPr>
          <a:xfrm>
            <a:off x="4407016" y="332963"/>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4">
              <a:alphaModFix/>
            </a:blip>
            <a:stretch>
              <a:fillRect b="0" l="0" r="0" t="0"/>
            </a:stretch>
          </a:blipFill>
          <a:ln>
            <a:noFill/>
          </a:ln>
        </p:spPr>
      </p:sp>
      <p:pic>
        <p:nvPicPr>
          <p:cNvPr id="72" name="Google Shape;72;p13"/>
          <p:cNvPicPr preferRelativeResize="0"/>
          <p:nvPr/>
        </p:nvPicPr>
        <p:blipFill rotWithShape="1">
          <a:blip r:embed="rId5">
            <a:alphaModFix/>
          </a:blip>
          <a:srcRect b="0" l="0" r="0" t="0"/>
          <a:stretch/>
        </p:blipFill>
        <p:spPr>
          <a:xfrm>
            <a:off x="3794462" y="3405212"/>
            <a:ext cx="2316328" cy="1202438"/>
          </a:xfrm>
          <a:prstGeom prst="rect">
            <a:avLst/>
          </a:prstGeom>
          <a:noFill/>
          <a:ln>
            <a:noFill/>
          </a:ln>
        </p:spPr>
      </p:pic>
      <p:pic>
        <p:nvPicPr>
          <p:cNvPr id="73" name="Google Shape;73;p13"/>
          <p:cNvPicPr preferRelativeResize="0"/>
          <p:nvPr/>
        </p:nvPicPr>
        <p:blipFill rotWithShape="1">
          <a:blip r:embed="rId6">
            <a:alphaModFix/>
          </a:blip>
          <a:srcRect b="0" l="0" r="0" t="0"/>
          <a:stretch/>
        </p:blipFill>
        <p:spPr>
          <a:xfrm>
            <a:off x="6115700" y="838775"/>
            <a:ext cx="2263826" cy="3383633"/>
          </a:xfrm>
          <a:prstGeom prst="rect">
            <a:avLst/>
          </a:prstGeom>
          <a:noFill/>
          <a:ln>
            <a:noFill/>
          </a:ln>
        </p:spPr>
      </p:pic>
      <p:pic>
        <p:nvPicPr>
          <p:cNvPr id="74" name="Google Shape;74;p13"/>
          <p:cNvPicPr preferRelativeResize="0"/>
          <p:nvPr/>
        </p:nvPicPr>
        <p:blipFill rotWithShape="1">
          <a:blip r:embed="rId7">
            <a:alphaModFix/>
          </a:blip>
          <a:srcRect b="0" l="0" r="0" t="0"/>
          <a:stretch/>
        </p:blipFill>
        <p:spPr>
          <a:xfrm>
            <a:off x="112775" y="745425"/>
            <a:ext cx="565550" cy="3061600"/>
          </a:xfrm>
          <a:prstGeom prst="rect">
            <a:avLst/>
          </a:prstGeom>
          <a:noFill/>
          <a:ln>
            <a:noFill/>
          </a:ln>
        </p:spPr>
      </p:pic>
      <p:pic>
        <p:nvPicPr>
          <p:cNvPr id="75" name="Google Shape;75;p13"/>
          <p:cNvPicPr preferRelativeResize="0"/>
          <p:nvPr/>
        </p:nvPicPr>
        <p:blipFill rotWithShape="1">
          <a:blip r:embed="rId8">
            <a:alphaModFix/>
          </a:blip>
          <a:srcRect b="0" l="0" r="0" t="0"/>
          <a:stretch/>
        </p:blipFill>
        <p:spPr>
          <a:xfrm>
            <a:off x="5437987" y="257056"/>
            <a:ext cx="3536907" cy="45470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79" name="Shape 79"/>
        <p:cNvGrpSpPr/>
        <p:nvPr/>
      </p:nvGrpSpPr>
      <p:grpSpPr>
        <a:xfrm>
          <a:off x="0" y="0"/>
          <a:ext cx="0" cy="0"/>
          <a:chOff x="0" y="0"/>
          <a:chExt cx="0" cy="0"/>
        </a:xfrm>
      </p:grpSpPr>
      <p:pic>
        <p:nvPicPr>
          <p:cNvPr id="80" name="Google Shape;80;p14"/>
          <p:cNvPicPr preferRelativeResize="0"/>
          <p:nvPr/>
        </p:nvPicPr>
        <p:blipFill rotWithShape="1">
          <a:blip r:embed="rId3">
            <a:alphaModFix/>
          </a:blip>
          <a:srcRect b="0" l="0" r="0" t="0"/>
          <a:stretch/>
        </p:blipFill>
        <p:spPr>
          <a:xfrm>
            <a:off x="5425138" y="230044"/>
            <a:ext cx="3604637" cy="4634107"/>
          </a:xfrm>
          <a:prstGeom prst="rect">
            <a:avLst/>
          </a:prstGeom>
          <a:noFill/>
          <a:ln>
            <a:noFill/>
          </a:ln>
        </p:spPr>
      </p:pic>
      <p:grpSp>
        <p:nvGrpSpPr>
          <p:cNvPr id="81" name="Google Shape;81;p14"/>
          <p:cNvGrpSpPr/>
          <p:nvPr/>
        </p:nvGrpSpPr>
        <p:grpSpPr>
          <a:xfrm>
            <a:off x="514350" y="912040"/>
            <a:ext cx="865725" cy="956274"/>
            <a:chOff x="0" y="-47625"/>
            <a:chExt cx="456005" cy="503700"/>
          </a:xfrm>
        </p:grpSpPr>
        <p:sp>
          <p:nvSpPr>
            <p:cNvPr id="82" name="Google Shape;82;p1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83" name="Google Shape;83;p1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84" name="Google Shape;84;p14"/>
          <p:cNvGrpSpPr/>
          <p:nvPr/>
        </p:nvGrpSpPr>
        <p:grpSpPr>
          <a:xfrm>
            <a:off x="575719" y="973177"/>
            <a:ext cx="865725" cy="956274"/>
            <a:chOff x="0" y="-47625"/>
            <a:chExt cx="456005" cy="503700"/>
          </a:xfrm>
        </p:grpSpPr>
        <p:sp>
          <p:nvSpPr>
            <p:cNvPr id="85" name="Google Shape;85;p1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86" name="Google Shape;86;p1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87" name="Google Shape;87;p14"/>
          <p:cNvSpPr txBox="1"/>
          <p:nvPr/>
        </p:nvSpPr>
        <p:spPr>
          <a:xfrm>
            <a:off x="1588765" y="1014891"/>
            <a:ext cx="3689100" cy="107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t/>
            </a:r>
            <a:endParaRPr b="0" i="0" sz="700" u="none" cap="none" strike="noStrike">
              <a:solidFill>
                <a:srgbClr val="000000"/>
              </a:solidFill>
              <a:latin typeface="Arial"/>
              <a:ea typeface="Arial"/>
              <a:cs typeface="Arial"/>
              <a:sym typeface="Arial"/>
            </a:endParaRPr>
          </a:p>
        </p:txBody>
      </p:sp>
      <p:sp>
        <p:nvSpPr>
          <p:cNvPr id="88" name="Google Shape;88;p14"/>
          <p:cNvSpPr txBox="1"/>
          <p:nvPr/>
        </p:nvSpPr>
        <p:spPr>
          <a:xfrm>
            <a:off x="1765799" y="1868325"/>
            <a:ext cx="4148400" cy="2228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lang="ru" sz="1600">
                <a:solidFill>
                  <a:srgbClr val="FFFFFF"/>
                </a:solidFill>
                <a:latin typeface="Comfortaa"/>
                <a:ea typeface="Comfortaa"/>
                <a:cs typeface="Comfortaa"/>
                <a:sym typeface="Comfortaa"/>
              </a:rPr>
              <a:t>Тестирование программного обеспечения</a:t>
            </a:r>
            <a:r>
              <a:rPr lang="ru" sz="1600">
                <a:solidFill>
                  <a:srgbClr val="FFFFFF"/>
                </a:solidFill>
                <a:latin typeface="Comfortaa Medium"/>
                <a:ea typeface="Comfortaa Medium"/>
                <a:cs typeface="Comfortaa Medium"/>
                <a:sym typeface="Comfortaa Medium"/>
              </a:rPr>
              <a:t> – </a:t>
            </a:r>
            <a:r>
              <a:rPr lang="ru" sz="1600">
                <a:solidFill>
                  <a:srgbClr val="FFFFFF"/>
                </a:solidFill>
                <a:latin typeface="Comfortaa"/>
                <a:ea typeface="Comfortaa"/>
                <a:cs typeface="Comfortaa"/>
                <a:sym typeface="Comfortaa"/>
              </a:rPr>
              <a:t>один из важнейших этапов разработки, поскольку ошибки могут привести к финансовым потерям, утечке данных, сбоям в критически важных системах и даже угрозе жизни людей.</a:t>
            </a:r>
            <a:endParaRPr i="0" sz="1200" u="none" cap="none" strike="noStrike">
              <a:solidFill>
                <a:srgbClr val="000000"/>
              </a:solidFill>
              <a:latin typeface="Comfortaa"/>
              <a:ea typeface="Comfortaa"/>
              <a:cs typeface="Comfortaa"/>
              <a:sym typeface="Comfortaa"/>
            </a:endParaRPr>
          </a:p>
        </p:txBody>
      </p:sp>
      <p:sp>
        <p:nvSpPr>
          <p:cNvPr id="89" name="Google Shape;89;p14"/>
          <p:cNvSpPr txBox="1"/>
          <p:nvPr/>
        </p:nvSpPr>
        <p:spPr>
          <a:xfrm>
            <a:off x="594527" y="1052875"/>
            <a:ext cx="705300" cy="1077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5000"/>
              <a:buFont typeface="Arial"/>
              <a:buNone/>
            </a:pPr>
            <a:r>
              <a:t/>
            </a:r>
            <a:endParaRPr b="0" i="0" sz="700" u="none" cap="none" strike="noStrike">
              <a:solidFill>
                <a:srgbClr val="000000"/>
              </a:solidFill>
              <a:latin typeface="Arial"/>
              <a:ea typeface="Arial"/>
              <a:cs typeface="Arial"/>
              <a:sym typeface="Arial"/>
            </a:endParaRPr>
          </a:p>
        </p:txBody>
      </p:sp>
      <p:grpSp>
        <p:nvGrpSpPr>
          <p:cNvPr id="90" name="Google Shape;90;p14"/>
          <p:cNvGrpSpPr/>
          <p:nvPr/>
        </p:nvGrpSpPr>
        <p:grpSpPr>
          <a:xfrm rot="5400000">
            <a:off x="5415436" y="2361530"/>
            <a:ext cx="1404925" cy="204895"/>
            <a:chOff x="0" y="-47625"/>
            <a:chExt cx="812800" cy="118539"/>
          </a:xfrm>
        </p:grpSpPr>
        <p:sp>
          <p:nvSpPr>
            <p:cNvPr id="91" name="Google Shape;91;p14"/>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92" name="Google Shape;92;p14"/>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93" name="Google Shape;93;p14"/>
          <p:cNvGrpSpPr/>
          <p:nvPr/>
        </p:nvGrpSpPr>
        <p:grpSpPr>
          <a:xfrm rot="5400000">
            <a:off x="8029637" y="2361530"/>
            <a:ext cx="1404925" cy="204895"/>
            <a:chOff x="0" y="-47625"/>
            <a:chExt cx="812800" cy="118539"/>
          </a:xfrm>
        </p:grpSpPr>
        <p:sp>
          <p:nvSpPr>
            <p:cNvPr id="94" name="Google Shape;94;p14"/>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95" name="Google Shape;95;p14"/>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96" name="Google Shape;96;p14"/>
          <p:cNvSpPr/>
          <p:nvPr/>
        </p:nvSpPr>
        <p:spPr>
          <a:xfrm>
            <a:off x="-367387" y="3294939"/>
            <a:ext cx="734775" cy="736113"/>
          </a:xfrm>
          <a:custGeom>
            <a:rect b="b" l="l" r="r" t="t"/>
            <a:pathLst>
              <a:path extrusionOk="0" h="1472226" w="1469549">
                <a:moveTo>
                  <a:pt x="0" y="0"/>
                </a:moveTo>
                <a:lnTo>
                  <a:pt x="1469550" y="0"/>
                </a:lnTo>
                <a:lnTo>
                  <a:pt x="1469550" y="1472226"/>
                </a:lnTo>
                <a:lnTo>
                  <a:pt x="0" y="1472226"/>
                </a:lnTo>
                <a:lnTo>
                  <a:pt x="0" y="0"/>
                </a:lnTo>
                <a:close/>
              </a:path>
            </a:pathLst>
          </a:custGeom>
          <a:blipFill rotWithShape="1">
            <a:blip r:embed="rId4">
              <a:alphaModFix/>
            </a:blip>
            <a:stretch>
              <a:fillRect b="0" l="0" r="0" t="0"/>
            </a:stretch>
          </a:blipFill>
          <a:ln>
            <a:noFill/>
          </a:ln>
        </p:spPr>
      </p:sp>
      <p:pic>
        <p:nvPicPr>
          <p:cNvPr id="97" name="Google Shape;97;p14"/>
          <p:cNvPicPr preferRelativeResize="0"/>
          <p:nvPr/>
        </p:nvPicPr>
        <p:blipFill rotWithShape="1">
          <a:blip r:embed="rId5">
            <a:alphaModFix/>
          </a:blip>
          <a:srcRect b="0" l="0" r="0" t="0"/>
          <a:stretch/>
        </p:blipFill>
        <p:spPr>
          <a:xfrm>
            <a:off x="6126525" y="676550"/>
            <a:ext cx="2503126" cy="3741085"/>
          </a:xfrm>
          <a:prstGeom prst="rect">
            <a:avLst/>
          </a:prstGeom>
          <a:noFill/>
          <a:ln>
            <a:noFill/>
          </a:ln>
        </p:spPr>
      </p:pic>
      <p:pic>
        <p:nvPicPr>
          <p:cNvPr id="98" name="Google Shape;98;p14"/>
          <p:cNvPicPr preferRelativeResize="0"/>
          <p:nvPr/>
        </p:nvPicPr>
        <p:blipFill rotWithShape="1">
          <a:blip r:embed="rId6">
            <a:alphaModFix/>
          </a:blip>
          <a:srcRect b="0" l="0" r="0" t="0"/>
          <a:stretch/>
        </p:blipFill>
        <p:spPr>
          <a:xfrm>
            <a:off x="1488162" y="1521075"/>
            <a:ext cx="614887" cy="2861360"/>
          </a:xfrm>
          <a:prstGeom prst="rect">
            <a:avLst/>
          </a:prstGeom>
          <a:noFill/>
          <a:ln>
            <a:noFill/>
          </a:ln>
        </p:spPr>
      </p:pic>
      <p:pic>
        <p:nvPicPr>
          <p:cNvPr id="99" name="Google Shape;99;p14"/>
          <p:cNvPicPr preferRelativeResize="0"/>
          <p:nvPr/>
        </p:nvPicPr>
        <p:blipFill rotWithShape="1">
          <a:blip r:embed="rId7">
            <a:alphaModFix/>
          </a:blip>
          <a:srcRect b="0" l="0" r="0" t="0"/>
          <a:stretch/>
        </p:blipFill>
        <p:spPr>
          <a:xfrm>
            <a:off x="-745106" y="2891175"/>
            <a:ext cx="1546648" cy="1543638"/>
          </a:xfrm>
          <a:prstGeom prst="rect">
            <a:avLst/>
          </a:prstGeom>
          <a:noFill/>
          <a:ln>
            <a:noFill/>
          </a:ln>
        </p:spPr>
      </p:pic>
      <p:pic>
        <p:nvPicPr>
          <p:cNvPr id="100" name="Google Shape;100;p14"/>
          <p:cNvPicPr preferRelativeResize="0"/>
          <p:nvPr/>
        </p:nvPicPr>
        <p:blipFill rotWithShape="1">
          <a:blip r:embed="rId8">
            <a:alphaModFix/>
          </a:blip>
          <a:srcRect b="0" l="0" r="0" t="0"/>
          <a:stretch/>
        </p:blipFill>
        <p:spPr>
          <a:xfrm>
            <a:off x="-1006487" y="4626024"/>
            <a:ext cx="3657600" cy="1188720"/>
          </a:xfrm>
          <a:prstGeom prst="rect">
            <a:avLst/>
          </a:prstGeom>
          <a:noFill/>
          <a:ln>
            <a:noFill/>
          </a:ln>
        </p:spPr>
      </p:pic>
      <p:pic>
        <p:nvPicPr>
          <p:cNvPr id="101" name="Google Shape;101;p14"/>
          <p:cNvPicPr preferRelativeResize="0"/>
          <p:nvPr/>
        </p:nvPicPr>
        <p:blipFill rotWithShape="1">
          <a:blip r:embed="rId8">
            <a:alphaModFix/>
          </a:blip>
          <a:srcRect b="0" l="0" r="0" t="0"/>
          <a:stretch/>
        </p:blipFill>
        <p:spPr>
          <a:xfrm>
            <a:off x="-881637" y="-35014"/>
            <a:ext cx="3657600" cy="11887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05" name="Shape 105"/>
        <p:cNvGrpSpPr/>
        <p:nvPr/>
      </p:nvGrpSpPr>
      <p:grpSpPr>
        <a:xfrm>
          <a:off x="0" y="0"/>
          <a:ext cx="0" cy="0"/>
          <a:chOff x="0" y="0"/>
          <a:chExt cx="0" cy="0"/>
        </a:xfrm>
      </p:grpSpPr>
      <p:pic>
        <p:nvPicPr>
          <p:cNvPr id="106" name="Google Shape;106;p15"/>
          <p:cNvPicPr preferRelativeResize="0"/>
          <p:nvPr/>
        </p:nvPicPr>
        <p:blipFill rotWithShape="1">
          <a:blip r:embed="rId3">
            <a:alphaModFix/>
          </a:blip>
          <a:srcRect b="0" l="0" r="0" t="0"/>
          <a:stretch/>
        </p:blipFill>
        <p:spPr>
          <a:xfrm>
            <a:off x="-5548083" y="0"/>
            <a:ext cx="9554524" cy="5318439"/>
          </a:xfrm>
          <a:prstGeom prst="rect">
            <a:avLst/>
          </a:prstGeom>
          <a:noFill/>
          <a:ln>
            <a:noFill/>
          </a:ln>
        </p:spPr>
      </p:pic>
      <p:pic>
        <p:nvPicPr>
          <p:cNvPr id="107" name="Google Shape;107;p15"/>
          <p:cNvPicPr preferRelativeResize="0"/>
          <p:nvPr/>
        </p:nvPicPr>
        <p:blipFill rotWithShape="1">
          <a:blip r:embed="rId4">
            <a:alphaModFix/>
          </a:blip>
          <a:srcRect b="0" l="0" r="0" t="0"/>
          <a:stretch/>
        </p:blipFill>
        <p:spPr>
          <a:xfrm>
            <a:off x="227900" y="238188"/>
            <a:ext cx="11829279" cy="5048237"/>
          </a:xfrm>
          <a:prstGeom prst="rect">
            <a:avLst/>
          </a:prstGeom>
          <a:noFill/>
          <a:ln>
            <a:noFill/>
          </a:ln>
        </p:spPr>
      </p:pic>
      <p:grpSp>
        <p:nvGrpSpPr>
          <p:cNvPr id="108" name="Google Shape;108;p15"/>
          <p:cNvGrpSpPr/>
          <p:nvPr/>
        </p:nvGrpSpPr>
        <p:grpSpPr>
          <a:xfrm rot="5400000">
            <a:off x="-175994" y="2428186"/>
            <a:ext cx="1404925" cy="204895"/>
            <a:chOff x="0" y="-47625"/>
            <a:chExt cx="812800" cy="118539"/>
          </a:xfrm>
        </p:grpSpPr>
        <p:sp>
          <p:nvSpPr>
            <p:cNvPr id="109" name="Google Shape;109;p1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10" name="Google Shape;110;p1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11" name="Google Shape;111;p15"/>
          <p:cNvGrpSpPr/>
          <p:nvPr/>
        </p:nvGrpSpPr>
        <p:grpSpPr>
          <a:xfrm rot="5400000">
            <a:off x="2945773" y="2428186"/>
            <a:ext cx="1404925" cy="204895"/>
            <a:chOff x="0" y="-47625"/>
            <a:chExt cx="812800" cy="118539"/>
          </a:xfrm>
        </p:grpSpPr>
        <p:sp>
          <p:nvSpPr>
            <p:cNvPr id="112" name="Google Shape;112;p1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13" name="Google Shape;113;p1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14" name="Google Shape;114;p15"/>
          <p:cNvSpPr txBox="1"/>
          <p:nvPr/>
        </p:nvSpPr>
        <p:spPr>
          <a:xfrm>
            <a:off x="4072550" y="831100"/>
            <a:ext cx="42888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Therac-25 (1985–1987)</a:t>
            </a:r>
            <a:endParaRPr b="1" i="0" sz="3000" u="none" cap="none" strike="noStrike">
              <a:solidFill>
                <a:srgbClr val="000000"/>
              </a:solidFill>
              <a:latin typeface="Comfortaa"/>
              <a:ea typeface="Comfortaa"/>
              <a:cs typeface="Comfortaa"/>
              <a:sym typeface="Comfortaa"/>
            </a:endParaRPr>
          </a:p>
        </p:txBody>
      </p:sp>
      <p:sp>
        <p:nvSpPr>
          <p:cNvPr id="115" name="Google Shape;115;p15"/>
          <p:cNvSpPr txBox="1"/>
          <p:nvPr/>
        </p:nvSpPr>
        <p:spPr>
          <a:xfrm>
            <a:off x="4039300" y="1426425"/>
            <a:ext cx="4393500" cy="26874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Therac-25 — это медицинский ускоритель частиц, предназначенный для лечения раковых опухолей с помощью радиации. Однако в его программном обеспечении была критическая ошибка, из-за которой пациенты могли получать сверхдозы облучения.</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Разработчики убрали аппаратные предохранители, полагаясь только на ПО. В коде был переполнение счетчика (race condition), из-за которого устройство иногда не переключало режимы излучения. Это приводило к излучению доз, в сотни раз превышающих допустимые нормы.</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С 1985 по 1987 год как минимум 6 пациентов получили смертельные дозы радиации.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Люди получали ожоги, разрушение тканей и необратимые повреждения органов.</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Использование Therac-25 было прекращено, а отрасль медоборудования пересмотрела стандарты тестирования.</a:t>
            </a:r>
            <a:endParaRPr sz="900">
              <a:solidFill>
                <a:srgbClr val="FFFFFF"/>
              </a:solidFill>
              <a:latin typeface="Comfortaa"/>
              <a:ea typeface="Comfortaa"/>
              <a:cs typeface="Comfortaa"/>
              <a:sym typeface="Comfortaa"/>
            </a:endParaRPr>
          </a:p>
        </p:txBody>
      </p:sp>
      <p:sp>
        <p:nvSpPr>
          <p:cNvPr id="116" name="Google Shape;116;p15"/>
          <p:cNvSpPr/>
          <p:nvPr/>
        </p:nvSpPr>
        <p:spPr>
          <a:xfrm>
            <a:off x="797605" y="3298071"/>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17" name="Google Shape;117;p15"/>
          <p:cNvPicPr preferRelativeResize="0"/>
          <p:nvPr/>
        </p:nvPicPr>
        <p:blipFill>
          <a:blip r:embed="rId6">
            <a:alphaModFix/>
          </a:blip>
          <a:stretch>
            <a:fillRect/>
          </a:stretch>
        </p:blipFill>
        <p:spPr>
          <a:xfrm>
            <a:off x="529550" y="1428738"/>
            <a:ext cx="3048000" cy="2286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21" name="Shape 121"/>
        <p:cNvGrpSpPr/>
        <p:nvPr/>
      </p:nvGrpSpPr>
      <p:grpSpPr>
        <a:xfrm>
          <a:off x="0" y="0"/>
          <a:ext cx="0" cy="0"/>
          <a:chOff x="0" y="0"/>
          <a:chExt cx="0" cy="0"/>
        </a:xfrm>
      </p:grpSpPr>
      <p:pic>
        <p:nvPicPr>
          <p:cNvPr id="122" name="Google Shape;122;p16"/>
          <p:cNvPicPr preferRelativeResize="0"/>
          <p:nvPr/>
        </p:nvPicPr>
        <p:blipFill rotWithShape="1">
          <a:blip r:embed="rId3">
            <a:alphaModFix/>
          </a:blip>
          <a:srcRect b="0" l="0" r="0" t="0"/>
          <a:stretch/>
        </p:blipFill>
        <p:spPr>
          <a:xfrm>
            <a:off x="-203783" y="-14325"/>
            <a:ext cx="9554524" cy="5318439"/>
          </a:xfrm>
          <a:prstGeom prst="rect">
            <a:avLst/>
          </a:prstGeom>
          <a:noFill/>
          <a:ln>
            <a:noFill/>
          </a:ln>
        </p:spPr>
      </p:pic>
      <p:pic>
        <p:nvPicPr>
          <p:cNvPr id="123" name="Google Shape;123;p16"/>
          <p:cNvPicPr preferRelativeResize="0"/>
          <p:nvPr/>
        </p:nvPicPr>
        <p:blipFill rotWithShape="1">
          <a:blip r:embed="rId4">
            <a:alphaModFix/>
          </a:blip>
          <a:srcRect b="0" l="0" r="0" t="0"/>
          <a:stretch/>
        </p:blipFill>
        <p:spPr>
          <a:xfrm>
            <a:off x="297100" y="432213"/>
            <a:ext cx="11829279" cy="5048237"/>
          </a:xfrm>
          <a:prstGeom prst="rect">
            <a:avLst/>
          </a:prstGeom>
          <a:noFill/>
          <a:ln>
            <a:noFill/>
          </a:ln>
        </p:spPr>
      </p:pic>
      <p:grpSp>
        <p:nvGrpSpPr>
          <p:cNvPr id="124" name="Google Shape;124;p16"/>
          <p:cNvGrpSpPr/>
          <p:nvPr/>
        </p:nvGrpSpPr>
        <p:grpSpPr>
          <a:xfrm rot="5400000">
            <a:off x="-103044" y="2408511"/>
            <a:ext cx="1404925" cy="204895"/>
            <a:chOff x="0" y="-47625"/>
            <a:chExt cx="812800" cy="118539"/>
          </a:xfrm>
        </p:grpSpPr>
        <p:sp>
          <p:nvSpPr>
            <p:cNvPr id="125" name="Google Shape;125;p16"/>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26" name="Google Shape;126;p16"/>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27" name="Google Shape;127;p16"/>
          <p:cNvGrpSpPr/>
          <p:nvPr/>
        </p:nvGrpSpPr>
        <p:grpSpPr>
          <a:xfrm rot="5400000">
            <a:off x="2943898" y="2408523"/>
            <a:ext cx="1404925" cy="204895"/>
            <a:chOff x="0" y="-47625"/>
            <a:chExt cx="812800" cy="118539"/>
          </a:xfrm>
        </p:grpSpPr>
        <p:sp>
          <p:nvSpPr>
            <p:cNvPr id="128" name="Google Shape;128;p16"/>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29" name="Google Shape;129;p16"/>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0" name="Google Shape;130;p16"/>
          <p:cNvSpPr txBox="1"/>
          <p:nvPr/>
        </p:nvSpPr>
        <p:spPr>
          <a:xfrm>
            <a:off x="4856075" y="879950"/>
            <a:ext cx="37455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AT&amp;T (1990)</a:t>
            </a:r>
            <a:endParaRPr b="1" i="0" sz="3000" u="none" cap="none" strike="noStrike">
              <a:solidFill>
                <a:srgbClr val="000000"/>
              </a:solidFill>
              <a:latin typeface="Comfortaa"/>
              <a:ea typeface="Comfortaa"/>
              <a:cs typeface="Comfortaa"/>
              <a:sym typeface="Comfortaa"/>
            </a:endParaRPr>
          </a:p>
        </p:txBody>
      </p:sp>
      <p:sp>
        <p:nvSpPr>
          <p:cNvPr id="131" name="Google Shape;131;p16"/>
          <p:cNvSpPr txBox="1"/>
          <p:nvPr/>
        </p:nvSpPr>
        <p:spPr>
          <a:xfrm>
            <a:off x="4403425" y="1410300"/>
            <a:ext cx="3995100" cy="32007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15 января 1990 года крупнейший телекоммуникационный оператор США AT&amp;T столкнулся с катастрофическим сбоем в своей сети междугородной связи. Причиной стал ошибочный код в программном обеспечении, управляющем телефонными коммутаторами 4ESS.</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Обновление ПО содержало некорректный фрагмент кода, который приводил к сбою при перегрузке. Один коммутатор перезагрузился из-за ошибки, после чего система начала автоматически выключать и перезапускать соседние узлы. Этот процесс разносился по сети как «домино», в итоге вызвав полный коллапс телефонной связи.</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75 миллионов телефонных звонков были сорваны, включая важные правительственные и экстренные линии.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Бизнес и финансовые организации понесли многомиллионные убытки из-за отсутствия связи.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AT&amp;T потеряла около </a:t>
            </a:r>
            <a:r>
              <a:rPr b="1" lang="ru" sz="1100">
                <a:solidFill>
                  <a:schemeClr val="accent1"/>
                </a:solidFill>
                <a:latin typeface="Comfortaa"/>
                <a:ea typeface="Comfortaa"/>
                <a:cs typeface="Comfortaa"/>
                <a:sym typeface="Comfortaa"/>
              </a:rPr>
              <a:t>$60 миллионов </a:t>
            </a:r>
            <a:r>
              <a:rPr lang="ru" sz="900">
                <a:solidFill>
                  <a:srgbClr val="FFFFFF"/>
                </a:solidFill>
                <a:latin typeface="Comfortaa"/>
                <a:ea typeface="Comfortaa"/>
                <a:cs typeface="Comfortaa"/>
                <a:sym typeface="Comfortaa"/>
              </a:rPr>
              <a:t>только на компенсациях клиентам.</a:t>
            </a:r>
            <a:endParaRPr sz="900">
              <a:solidFill>
                <a:srgbClr val="FFFFFF"/>
              </a:solidFill>
              <a:latin typeface="Comfortaa"/>
              <a:ea typeface="Comfortaa"/>
              <a:cs typeface="Comfortaa"/>
              <a:sym typeface="Comfortaa"/>
            </a:endParaRPr>
          </a:p>
        </p:txBody>
      </p:sp>
      <p:sp>
        <p:nvSpPr>
          <p:cNvPr id="132" name="Google Shape;132;p16"/>
          <p:cNvSpPr/>
          <p:nvPr/>
        </p:nvSpPr>
        <p:spPr>
          <a:xfrm>
            <a:off x="387255" y="533097"/>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33" name="Google Shape;133;p16"/>
          <p:cNvPicPr preferRelativeResize="0"/>
          <p:nvPr/>
        </p:nvPicPr>
        <p:blipFill>
          <a:blip r:embed="rId6">
            <a:alphaModFix/>
          </a:blip>
          <a:stretch>
            <a:fillRect/>
          </a:stretch>
        </p:blipFill>
        <p:spPr>
          <a:xfrm>
            <a:off x="584375" y="1148001"/>
            <a:ext cx="2993774" cy="2993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37" name="Shape 137"/>
        <p:cNvGrpSpPr/>
        <p:nvPr/>
      </p:nvGrpSpPr>
      <p:grpSpPr>
        <a:xfrm>
          <a:off x="0" y="0"/>
          <a:ext cx="0" cy="0"/>
          <a:chOff x="0" y="0"/>
          <a:chExt cx="0" cy="0"/>
        </a:xfrm>
      </p:grpSpPr>
      <p:pic>
        <p:nvPicPr>
          <p:cNvPr id="138" name="Google Shape;138;p17"/>
          <p:cNvPicPr preferRelativeResize="0"/>
          <p:nvPr/>
        </p:nvPicPr>
        <p:blipFill rotWithShape="1">
          <a:blip r:embed="rId3">
            <a:alphaModFix/>
          </a:blip>
          <a:srcRect b="0" l="0" r="0" t="0"/>
          <a:stretch/>
        </p:blipFill>
        <p:spPr>
          <a:xfrm>
            <a:off x="4342929" y="-121637"/>
            <a:ext cx="9554524" cy="5318439"/>
          </a:xfrm>
          <a:prstGeom prst="rect">
            <a:avLst/>
          </a:prstGeom>
          <a:noFill/>
          <a:ln>
            <a:noFill/>
          </a:ln>
        </p:spPr>
      </p:pic>
      <p:pic>
        <p:nvPicPr>
          <p:cNvPr id="139" name="Google Shape;139;p17"/>
          <p:cNvPicPr preferRelativeResize="0"/>
          <p:nvPr/>
        </p:nvPicPr>
        <p:blipFill rotWithShape="1">
          <a:blip r:embed="rId4">
            <a:alphaModFix/>
          </a:blip>
          <a:srcRect b="0" l="0" r="0" t="0"/>
          <a:stretch/>
        </p:blipFill>
        <p:spPr>
          <a:xfrm>
            <a:off x="493875" y="420075"/>
            <a:ext cx="11974400" cy="5048224"/>
          </a:xfrm>
          <a:prstGeom prst="rect">
            <a:avLst/>
          </a:prstGeom>
          <a:noFill/>
          <a:ln>
            <a:noFill/>
          </a:ln>
        </p:spPr>
      </p:pic>
      <p:grpSp>
        <p:nvGrpSpPr>
          <p:cNvPr id="140" name="Google Shape;140;p17"/>
          <p:cNvGrpSpPr/>
          <p:nvPr/>
        </p:nvGrpSpPr>
        <p:grpSpPr>
          <a:xfrm rot="5400000">
            <a:off x="-167594" y="2469298"/>
            <a:ext cx="1404925" cy="204895"/>
            <a:chOff x="0" y="-47625"/>
            <a:chExt cx="812800" cy="118539"/>
          </a:xfrm>
        </p:grpSpPr>
        <p:sp>
          <p:nvSpPr>
            <p:cNvPr id="141" name="Google Shape;141;p17"/>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2" name="Google Shape;142;p17"/>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43" name="Google Shape;143;p17"/>
          <p:cNvGrpSpPr/>
          <p:nvPr/>
        </p:nvGrpSpPr>
        <p:grpSpPr>
          <a:xfrm rot="5400000">
            <a:off x="3799573" y="2469298"/>
            <a:ext cx="1404925" cy="204895"/>
            <a:chOff x="0" y="-47625"/>
            <a:chExt cx="812800" cy="118539"/>
          </a:xfrm>
        </p:grpSpPr>
        <p:sp>
          <p:nvSpPr>
            <p:cNvPr id="144" name="Google Shape;144;p17"/>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45" name="Google Shape;145;p17"/>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46" name="Google Shape;146;p17"/>
          <p:cNvSpPr txBox="1"/>
          <p:nvPr/>
        </p:nvSpPr>
        <p:spPr>
          <a:xfrm>
            <a:off x="4636275" y="879950"/>
            <a:ext cx="40773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Knight Capital (2012)</a:t>
            </a:r>
            <a:endParaRPr b="1" i="0" sz="3000" u="none" cap="none" strike="noStrike">
              <a:solidFill>
                <a:srgbClr val="000000"/>
              </a:solidFill>
              <a:latin typeface="Comfortaa"/>
              <a:ea typeface="Comfortaa"/>
              <a:cs typeface="Comfortaa"/>
              <a:sym typeface="Comfortaa"/>
            </a:endParaRPr>
          </a:p>
        </p:txBody>
      </p:sp>
      <p:sp>
        <p:nvSpPr>
          <p:cNvPr id="147" name="Google Shape;147;p17"/>
          <p:cNvSpPr txBox="1"/>
          <p:nvPr/>
        </p:nvSpPr>
        <p:spPr>
          <a:xfrm>
            <a:off x="4716523" y="1415145"/>
            <a:ext cx="3773700" cy="32364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1 августа 2012 года одна из крупнейших трейдинговых компаний США Knight Capital выпустила обновление своего торгового ПО. Однако в нем содержалась критическая ошибка, которая привела к неконтролируемым сделкам на Нью-Йоркской фондовой бирже (NYSE).</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0" marL="0" marR="0" rtl="0" algn="l">
              <a:lnSpc>
                <a:spcPct val="115000"/>
              </a:lnSpc>
              <a:spcBef>
                <a:spcPts val="0"/>
              </a:spcBef>
              <a:spcAft>
                <a:spcPts val="0"/>
              </a:spcAft>
              <a:buNone/>
            </a:pPr>
            <a:r>
              <a:rPr lang="ru" sz="900">
                <a:solidFill>
                  <a:srgbClr val="FFFFFF"/>
                </a:solidFill>
                <a:latin typeface="Comfortaa"/>
                <a:ea typeface="Comfortaa"/>
                <a:cs typeface="Comfortaa"/>
                <a:sym typeface="Comfortaa"/>
              </a:rPr>
              <a:t>Ошибка в коде привела к массовой покупке и продаже акций по неправильным ценам.</a:t>
            </a:r>
            <a:endParaRPr sz="900">
              <a:solidFill>
                <a:srgbClr val="FFFFFF"/>
              </a:solidFill>
              <a:latin typeface="Comfortaa"/>
              <a:ea typeface="Comfortaa"/>
              <a:cs typeface="Comfortaa"/>
              <a:sym typeface="Comfortaa"/>
            </a:endParaRPr>
          </a:p>
          <a:p>
            <a:pPr indent="0" lvl="0" marL="0" marR="0" rtl="0" algn="l">
              <a:lnSpc>
                <a:spcPct val="115000"/>
              </a:lnSpc>
              <a:spcBef>
                <a:spcPts val="0"/>
              </a:spcBef>
              <a:spcAft>
                <a:spcPts val="0"/>
              </a:spcAft>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В течение 45 минут система генерировала сделки на сумму $7 миллиардов, создавая хаос на рынке.</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Компания не смогла вовремя отключить ошибочное ПО, что усугубило ситуацию.</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За 45 минут Knight Capital потеряла </a:t>
            </a:r>
            <a:r>
              <a:rPr b="1" lang="ru" sz="1100">
                <a:solidFill>
                  <a:schemeClr val="accent1"/>
                </a:solidFill>
                <a:latin typeface="Comfortaa"/>
                <a:ea typeface="Comfortaa"/>
                <a:cs typeface="Comfortaa"/>
                <a:sym typeface="Comfortaa"/>
              </a:rPr>
              <a:t>$440 миллионов</a:t>
            </a:r>
            <a:r>
              <a:rPr lang="ru" sz="900">
                <a:solidFill>
                  <a:srgbClr val="FFFFFF"/>
                </a:solidFill>
                <a:latin typeface="Comfortaa"/>
                <a:ea typeface="Comfortaa"/>
                <a:cs typeface="Comfortaa"/>
                <a:sym typeface="Comfortaa"/>
              </a:rPr>
              <a:t>, что составило четырехкратную годовую прибыль компании.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Акции компании упали на 75% за один день.</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Через несколько дней Knight Capital была вынуждена продаться конкурентам, фактически прекратив свое существование.</a:t>
            </a:r>
            <a:endParaRPr sz="900">
              <a:solidFill>
                <a:srgbClr val="FFFFFF"/>
              </a:solidFill>
              <a:latin typeface="Comfortaa"/>
              <a:ea typeface="Comfortaa"/>
              <a:cs typeface="Comfortaa"/>
              <a:sym typeface="Comfortaa"/>
            </a:endParaRPr>
          </a:p>
        </p:txBody>
      </p:sp>
      <p:sp>
        <p:nvSpPr>
          <p:cNvPr id="148" name="Google Shape;148;p17"/>
          <p:cNvSpPr/>
          <p:nvPr/>
        </p:nvSpPr>
        <p:spPr>
          <a:xfrm>
            <a:off x="3837230" y="636547"/>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49" name="Google Shape;149;p17"/>
          <p:cNvPicPr preferRelativeResize="0"/>
          <p:nvPr/>
        </p:nvPicPr>
        <p:blipFill>
          <a:blip r:embed="rId6">
            <a:alphaModFix/>
          </a:blip>
          <a:stretch>
            <a:fillRect/>
          </a:stretch>
        </p:blipFill>
        <p:spPr>
          <a:xfrm>
            <a:off x="548700" y="1097263"/>
            <a:ext cx="3850900" cy="2737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53" name="Shape 153"/>
        <p:cNvGrpSpPr/>
        <p:nvPr/>
      </p:nvGrpSpPr>
      <p:grpSpPr>
        <a:xfrm>
          <a:off x="0" y="0"/>
          <a:ext cx="0" cy="0"/>
          <a:chOff x="0" y="0"/>
          <a:chExt cx="0" cy="0"/>
        </a:xfrm>
      </p:grpSpPr>
      <p:pic>
        <p:nvPicPr>
          <p:cNvPr id="154" name="Google Shape;154;p18"/>
          <p:cNvPicPr preferRelativeResize="0"/>
          <p:nvPr/>
        </p:nvPicPr>
        <p:blipFill rotWithShape="1">
          <a:blip r:embed="rId3">
            <a:alphaModFix/>
          </a:blip>
          <a:srcRect b="0" l="0" r="0" t="0"/>
          <a:stretch/>
        </p:blipFill>
        <p:spPr>
          <a:xfrm>
            <a:off x="-5212358" y="2159000"/>
            <a:ext cx="9554524" cy="5318439"/>
          </a:xfrm>
          <a:prstGeom prst="rect">
            <a:avLst/>
          </a:prstGeom>
          <a:noFill/>
          <a:ln>
            <a:noFill/>
          </a:ln>
        </p:spPr>
      </p:pic>
      <p:pic>
        <p:nvPicPr>
          <p:cNvPr id="155" name="Google Shape;155;p18"/>
          <p:cNvPicPr preferRelativeResize="0"/>
          <p:nvPr/>
        </p:nvPicPr>
        <p:blipFill rotWithShape="1">
          <a:blip r:embed="rId4">
            <a:alphaModFix/>
          </a:blip>
          <a:srcRect b="0" l="0" r="0" t="0"/>
          <a:stretch/>
        </p:blipFill>
        <p:spPr>
          <a:xfrm>
            <a:off x="297100" y="246988"/>
            <a:ext cx="11829279" cy="5048237"/>
          </a:xfrm>
          <a:prstGeom prst="rect">
            <a:avLst/>
          </a:prstGeom>
          <a:noFill/>
          <a:ln>
            <a:noFill/>
          </a:ln>
        </p:spPr>
      </p:pic>
      <p:grpSp>
        <p:nvGrpSpPr>
          <p:cNvPr id="156" name="Google Shape;156;p18"/>
          <p:cNvGrpSpPr/>
          <p:nvPr/>
        </p:nvGrpSpPr>
        <p:grpSpPr>
          <a:xfrm rot="5400000">
            <a:off x="-176019" y="2428186"/>
            <a:ext cx="1404925" cy="204895"/>
            <a:chOff x="0" y="-47625"/>
            <a:chExt cx="812800" cy="118539"/>
          </a:xfrm>
        </p:grpSpPr>
        <p:sp>
          <p:nvSpPr>
            <p:cNvPr id="157" name="Google Shape;157;p18"/>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58" name="Google Shape;158;p18"/>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59" name="Google Shape;159;p18"/>
          <p:cNvGrpSpPr/>
          <p:nvPr/>
        </p:nvGrpSpPr>
        <p:grpSpPr>
          <a:xfrm rot="5400000">
            <a:off x="3220573" y="2518023"/>
            <a:ext cx="1404925" cy="204895"/>
            <a:chOff x="0" y="-47625"/>
            <a:chExt cx="812800" cy="118539"/>
          </a:xfrm>
        </p:grpSpPr>
        <p:sp>
          <p:nvSpPr>
            <p:cNvPr id="160" name="Google Shape;160;p18"/>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61" name="Google Shape;161;p18"/>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62" name="Google Shape;162;p18"/>
          <p:cNvSpPr txBox="1"/>
          <p:nvPr/>
        </p:nvSpPr>
        <p:spPr>
          <a:xfrm>
            <a:off x="4257700" y="837200"/>
            <a:ext cx="43263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British Airways (2017)</a:t>
            </a:r>
            <a:endParaRPr b="1" i="0" sz="3000" u="none" cap="none" strike="noStrike">
              <a:solidFill>
                <a:srgbClr val="000000"/>
              </a:solidFill>
              <a:latin typeface="Comfortaa"/>
              <a:ea typeface="Comfortaa"/>
              <a:cs typeface="Comfortaa"/>
              <a:sym typeface="Comfortaa"/>
            </a:endParaRPr>
          </a:p>
        </p:txBody>
      </p:sp>
      <p:sp>
        <p:nvSpPr>
          <p:cNvPr id="163" name="Google Shape;163;p18"/>
          <p:cNvSpPr txBox="1"/>
          <p:nvPr/>
        </p:nvSpPr>
        <p:spPr>
          <a:xfrm>
            <a:off x="4402950" y="1362875"/>
            <a:ext cx="3982500" cy="30768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27 мая 2017 года у British Airways произошел глобальный сбой в ИТ-системе, который привел к отмене и задержке рейсов. Причиной стал отказ центра обработки данных в результате ошибки при обслуживании серверов.</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Компьютерные системы аэропортов перестали работать, из-за чего пассажиры не могли зарегистрироваться на рейсы.</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Обслуживание багажа полностью остановилось, чем вызвало хаос в аэропортах.</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Персонал не имел доступа к информации о рейсах, что приводило к массовым сбоям в расписании.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Более 75 000 пассажиров пострадали из-за отмены рейсов.</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Более 800 рейсов были отменены в крупных аэропортах Лондона (Heathrow и Gatwick).</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British Airways потеряла около </a:t>
            </a:r>
            <a:r>
              <a:rPr b="1" lang="ru" sz="1100">
                <a:solidFill>
                  <a:schemeClr val="accent1"/>
                </a:solidFill>
                <a:latin typeface="Comfortaa"/>
                <a:ea typeface="Comfortaa"/>
                <a:cs typeface="Comfortaa"/>
                <a:sym typeface="Comfortaa"/>
              </a:rPr>
              <a:t>80 миллионов фунтов стерлингов</a:t>
            </a:r>
            <a:r>
              <a:rPr b="1" lang="ru" sz="900">
                <a:solidFill>
                  <a:srgbClr val="FFFFFF"/>
                </a:solidFill>
                <a:latin typeface="Comfortaa"/>
                <a:ea typeface="Comfortaa"/>
                <a:cs typeface="Comfortaa"/>
                <a:sym typeface="Comfortaa"/>
              </a:rPr>
              <a:t> </a:t>
            </a:r>
            <a:r>
              <a:rPr lang="ru" sz="900">
                <a:solidFill>
                  <a:srgbClr val="FFFFFF"/>
                </a:solidFill>
                <a:latin typeface="Comfortaa"/>
                <a:ea typeface="Comfortaa"/>
                <a:cs typeface="Comfortaa"/>
                <a:sym typeface="Comfortaa"/>
              </a:rPr>
              <a:t>из-за компенсаций и репутационных потерь.</a:t>
            </a:r>
            <a:endParaRPr sz="900">
              <a:solidFill>
                <a:srgbClr val="FFFFFF"/>
              </a:solidFill>
              <a:latin typeface="Comfortaa"/>
              <a:ea typeface="Comfortaa"/>
              <a:cs typeface="Comfortaa"/>
              <a:sym typeface="Comfortaa"/>
            </a:endParaRPr>
          </a:p>
        </p:txBody>
      </p:sp>
      <p:sp>
        <p:nvSpPr>
          <p:cNvPr id="164" name="Google Shape;164;p18"/>
          <p:cNvSpPr/>
          <p:nvPr/>
        </p:nvSpPr>
        <p:spPr>
          <a:xfrm>
            <a:off x="2503505" y="1039197"/>
            <a:ext cx="734774"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65" name="Google Shape;165;p18"/>
          <p:cNvPicPr preferRelativeResize="0"/>
          <p:nvPr/>
        </p:nvPicPr>
        <p:blipFill>
          <a:blip r:embed="rId6">
            <a:alphaModFix/>
          </a:blip>
          <a:stretch>
            <a:fillRect/>
          </a:stretch>
        </p:blipFill>
        <p:spPr>
          <a:xfrm>
            <a:off x="521675" y="1362875"/>
            <a:ext cx="3329475" cy="2564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69" name="Shape 169"/>
        <p:cNvGrpSpPr/>
        <p:nvPr/>
      </p:nvGrpSpPr>
      <p:grpSpPr>
        <a:xfrm>
          <a:off x="0" y="0"/>
          <a:ext cx="0" cy="0"/>
          <a:chOff x="0" y="0"/>
          <a:chExt cx="0" cy="0"/>
        </a:xfrm>
      </p:grpSpPr>
      <p:pic>
        <p:nvPicPr>
          <p:cNvPr id="170" name="Google Shape;170;p19"/>
          <p:cNvPicPr preferRelativeResize="0"/>
          <p:nvPr/>
        </p:nvPicPr>
        <p:blipFill rotWithShape="1">
          <a:blip r:embed="rId3">
            <a:alphaModFix/>
          </a:blip>
          <a:srcRect b="0" l="0" r="0" t="0"/>
          <a:stretch/>
        </p:blipFill>
        <p:spPr>
          <a:xfrm>
            <a:off x="-203783" y="-14325"/>
            <a:ext cx="9554524" cy="5318439"/>
          </a:xfrm>
          <a:prstGeom prst="rect">
            <a:avLst/>
          </a:prstGeom>
          <a:noFill/>
          <a:ln>
            <a:noFill/>
          </a:ln>
        </p:spPr>
      </p:pic>
      <p:pic>
        <p:nvPicPr>
          <p:cNvPr id="171" name="Google Shape;171;p19"/>
          <p:cNvPicPr preferRelativeResize="0"/>
          <p:nvPr/>
        </p:nvPicPr>
        <p:blipFill rotWithShape="1">
          <a:blip r:embed="rId4">
            <a:alphaModFix/>
          </a:blip>
          <a:srcRect b="0" l="0" r="0" t="0"/>
          <a:stretch/>
        </p:blipFill>
        <p:spPr>
          <a:xfrm>
            <a:off x="153950" y="666238"/>
            <a:ext cx="11829279" cy="5048237"/>
          </a:xfrm>
          <a:prstGeom prst="rect">
            <a:avLst/>
          </a:prstGeom>
          <a:noFill/>
          <a:ln>
            <a:noFill/>
          </a:ln>
        </p:spPr>
      </p:pic>
      <p:grpSp>
        <p:nvGrpSpPr>
          <p:cNvPr id="172" name="Google Shape;172;p19"/>
          <p:cNvGrpSpPr/>
          <p:nvPr/>
        </p:nvGrpSpPr>
        <p:grpSpPr>
          <a:xfrm rot="5400000">
            <a:off x="-176019" y="2428186"/>
            <a:ext cx="1404925" cy="204895"/>
            <a:chOff x="0" y="-47625"/>
            <a:chExt cx="812800" cy="118539"/>
          </a:xfrm>
        </p:grpSpPr>
        <p:sp>
          <p:nvSpPr>
            <p:cNvPr id="173" name="Google Shape;173;p1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74" name="Google Shape;174;p1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5" name="Google Shape;175;p19"/>
          <p:cNvGrpSpPr/>
          <p:nvPr/>
        </p:nvGrpSpPr>
        <p:grpSpPr>
          <a:xfrm rot="5400000">
            <a:off x="3248773" y="2307273"/>
            <a:ext cx="1404925" cy="204895"/>
            <a:chOff x="0" y="-47625"/>
            <a:chExt cx="812800" cy="118539"/>
          </a:xfrm>
        </p:grpSpPr>
        <p:sp>
          <p:nvSpPr>
            <p:cNvPr id="176" name="Google Shape;176;p19"/>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77" name="Google Shape;177;p19"/>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8" name="Google Shape;178;p19"/>
          <p:cNvSpPr txBox="1"/>
          <p:nvPr/>
        </p:nvSpPr>
        <p:spPr>
          <a:xfrm>
            <a:off x="4238725" y="765325"/>
            <a:ext cx="44946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Boeing 737 MAX  (2018)</a:t>
            </a:r>
            <a:endParaRPr b="1" i="0" sz="3000" u="none" cap="none" strike="noStrike">
              <a:solidFill>
                <a:srgbClr val="000000"/>
              </a:solidFill>
              <a:latin typeface="Comfortaa"/>
              <a:ea typeface="Comfortaa"/>
              <a:cs typeface="Comfortaa"/>
              <a:sym typeface="Comfortaa"/>
            </a:endParaRPr>
          </a:p>
        </p:txBody>
      </p:sp>
      <p:sp>
        <p:nvSpPr>
          <p:cNvPr id="179" name="Google Shape;179;p19"/>
          <p:cNvSpPr txBox="1"/>
          <p:nvPr/>
        </p:nvSpPr>
        <p:spPr>
          <a:xfrm>
            <a:off x="4370525" y="1282700"/>
            <a:ext cx="3823200" cy="36789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В новых самолетах Boeing 737 MAX была установлена автоматическая система MCAS (Maneuvering Characteristics Augmentation System), предназначенная для предотвращения сваливания самолета. Однако система полагалась только на один датчик угла атаки, который мог выдавать ошибочные данные.</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Если датчик передавал некорректную информацию, MCAS самостоятельно опускала нос самолета, даже если это не требовалось. Пилоты не могли быстро отключить систему, что приводило к потере управления.</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Две авиакатастрофы:</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AutoNum type="arabicPeriod"/>
            </a:pPr>
            <a:r>
              <a:rPr lang="ru" sz="900">
                <a:solidFill>
                  <a:srgbClr val="FFFFFF"/>
                </a:solidFill>
                <a:latin typeface="Comfortaa"/>
                <a:ea typeface="Comfortaa"/>
                <a:cs typeface="Comfortaa"/>
                <a:sym typeface="Comfortaa"/>
              </a:rPr>
              <a:t>Lion Air (октябрь 2018) – 189 погибших.</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AutoNum type="arabicPeriod"/>
            </a:pPr>
            <a:r>
              <a:rPr lang="ru" sz="900">
                <a:solidFill>
                  <a:srgbClr val="FFFFFF"/>
                </a:solidFill>
                <a:latin typeface="Comfortaa"/>
                <a:ea typeface="Comfortaa"/>
                <a:cs typeface="Comfortaa"/>
                <a:sym typeface="Comfortaa"/>
              </a:rPr>
              <a:t>Ethiopian Airlines (март 2019) – 157 погибших.</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Весь флот Boeing 737 MAX был отстранен от полетов на 20 месяцев.</a:t>
            </a:r>
            <a:endParaRPr sz="900">
              <a:solidFill>
                <a:schemeClr val="l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Boeing потерял </a:t>
            </a:r>
            <a:r>
              <a:rPr b="1" lang="ru" sz="1100">
                <a:solidFill>
                  <a:schemeClr val="accent1"/>
                </a:solidFill>
                <a:latin typeface="Comfortaa"/>
                <a:ea typeface="Comfortaa"/>
                <a:cs typeface="Comfortaa"/>
                <a:sym typeface="Comfortaa"/>
              </a:rPr>
              <a:t>миллиарды долларов</a:t>
            </a:r>
            <a:r>
              <a:rPr lang="ru" sz="900">
                <a:solidFill>
                  <a:schemeClr val="lt1"/>
                </a:solidFill>
                <a:latin typeface="Comfortaa"/>
                <a:ea typeface="Comfortaa"/>
                <a:cs typeface="Comfortaa"/>
                <a:sym typeface="Comfortaa"/>
              </a:rPr>
              <a:t> из-за судебных исков, отмены заказов и расследований.</a:t>
            </a:r>
            <a:endParaRPr sz="900">
              <a:solidFill>
                <a:schemeClr val="l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Расследования показали, что компания знала о проблеме, но не проинформировала пилотов и авиакомпании.</a:t>
            </a:r>
            <a:endParaRPr sz="900">
              <a:solidFill>
                <a:schemeClr val="lt1"/>
              </a:solidFill>
              <a:latin typeface="Comfortaa"/>
              <a:ea typeface="Comfortaa"/>
              <a:cs typeface="Comfortaa"/>
              <a:sym typeface="Comfortaa"/>
            </a:endParaRPr>
          </a:p>
        </p:txBody>
      </p:sp>
      <p:sp>
        <p:nvSpPr>
          <p:cNvPr id="180" name="Google Shape;180;p19"/>
          <p:cNvSpPr/>
          <p:nvPr/>
        </p:nvSpPr>
        <p:spPr>
          <a:xfrm>
            <a:off x="2881180" y="3042921"/>
            <a:ext cx="734774"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81" name="Google Shape;181;p19"/>
          <p:cNvPicPr preferRelativeResize="0"/>
          <p:nvPr/>
        </p:nvPicPr>
        <p:blipFill>
          <a:blip r:embed="rId6">
            <a:alphaModFix/>
          </a:blip>
          <a:stretch>
            <a:fillRect/>
          </a:stretch>
        </p:blipFill>
        <p:spPr>
          <a:xfrm>
            <a:off x="513275" y="1282699"/>
            <a:ext cx="3362050" cy="220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185" name="Shape 185"/>
        <p:cNvGrpSpPr/>
        <p:nvPr/>
      </p:nvGrpSpPr>
      <p:grpSpPr>
        <a:xfrm>
          <a:off x="0" y="0"/>
          <a:ext cx="0" cy="0"/>
          <a:chOff x="0" y="0"/>
          <a:chExt cx="0" cy="0"/>
        </a:xfrm>
      </p:grpSpPr>
      <p:pic>
        <p:nvPicPr>
          <p:cNvPr id="186" name="Google Shape;186;p20"/>
          <p:cNvPicPr preferRelativeResize="0"/>
          <p:nvPr/>
        </p:nvPicPr>
        <p:blipFill rotWithShape="1">
          <a:blip r:embed="rId3">
            <a:alphaModFix/>
          </a:blip>
          <a:srcRect b="0" l="0" r="0" t="0"/>
          <a:stretch/>
        </p:blipFill>
        <p:spPr>
          <a:xfrm>
            <a:off x="4034442" y="-87475"/>
            <a:ext cx="9554524" cy="5318439"/>
          </a:xfrm>
          <a:prstGeom prst="rect">
            <a:avLst/>
          </a:prstGeom>
          <a:noFill/>
          <a:ln>
            <a:noFill/>
          </a:ln>
        </p:spPr>
      </p:pic>
      <p:pic>
        <p:nvPicPr>
          <p:cNvPr id="187" name="Google Shape;187;p20"/>
          <p:cNvPicPr preferRelativeResize="0"/>
          <p:nvPr/>
        </p:nvPicPr>
        <p:blipFill rotWithShape="1">
          <a:blip r:embed="rId4">
            <a:alphaModFix/>
          </a:blip>
          <a:srcRect b="0" l="0" r="0" t="0"/>
          <a:stretch/>
        </p:blipFill>
        <p:spPr>
          <a:xfrm>
            <a:off x="213300" y="777013"/>
            <a:ext cx="11829279" cy="5048237"/>
          </a:xfrm>
          <a:prstGeom prst="rect">
            <a:avLst/>
          </a:prstGeom>
          <a:noFill/>
          <a:ln>
            <a:noFill/>
          </a:ln>
        </p:spPr>
      </p:pic>
      <p:grpSp>
        <p:nvGrpSpPr>
          <p:cNvPr id="188" name="Google Shape;188;p20"/>
          <p:cNvGrpSpPr/>
          <p:nvPr/>
        </p:nvGrpSpPr>
        <p:grpSpPr>
          <a:xfrm rot="5400000">
            <a:off x="-176019" y="2428186"/>
            <a:ext cx="1404925" cy="204895"/>
            <a:chOff x="0" y="-47625"/>
            <a:chExt cx="812800" cy="118539"/>
          </a:xfrm>
        </p:grpSpPr>
        <p:sp>
          <p:nvSpPr>
            <p:cNvPr id="189" name="Google Shape;189;p20"/>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90" name="Google Shape;190;p20"/>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91" name="Google Shape;191;p20"/>
          <p:cNvGrpSpPr/>
          <p:nvPr/>
        </p:nvGrpSpPr>
        <p:grpSpPr>
          <a:xfrm rot="5400000">
            <a:off x="3336448" y="2428186"/>
            <a:ext cx="1404925" cy="204895"/>
            <a:chOff x="0" y="-47625"/>
            <a:chExt cx="812800" cy="118539"/>
          </a:xfrm>
        </p:grpSpPr>
        <p:sp>
          <p:nvSpPr>
            <p:cNvPr id="192" name="Google Shape;192;p20"/>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193" name="Google Shape;193;p20"/>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94" name="Google Shape;194;p20"/>
          <p:cNvSpPr txBox="1"/>
          <p:nvPr/>
        </p:nvSpPr>
        <p:spPr>
          <a:xfrm>
            <a:off x="4697325" y="717025"/>
            <a:ext cx="37455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Windows 10 (2018)</a:t>
            </a:r>
            <a:endParaRPr b="1" i="0" sz="3000" u="none" cap="none" strike="noStrike">
              <a:solidFill>
                <a:srgbClr val="000000"/>
              </a:solidFill>
              <a:latin typeface="Comfortaa"/>
              <a:ea typeface="Comfortaa"/>
              <a:cs typeface="Comfortaa"/>
              <a:sym typeface="Comfortaa"/>
            </a:endParaRPr>
          </a:p>
        </p:txBody>
      </p:sp>
      <p:sp>
        <p:nvSpPr>
          <p:cNvPr id="195" name="Google Shape;195;p20"/>
          <p:cNvSpPr txBox="1"/>
          <p:nvPr/>
        </p:nvSpPr>
        <p:spPr>
          <a:xfrm>
            <a:off x="4488425" y="1348450"/>
            <a:ext cx="3968400" cy="34842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В октябре 2018 года Microsoft выпустила обновление Windows 10 October 2018 Update (версия 1809), которое должно было внести ряд улучшений в систему. Однако пользователи обнаружили, что после обновления их личные файлы бесследно исчезали.</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Обновление удаляло файлы из папки Документы без возможности восстановления.</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Некоторые пользователи сообщали о потере десятков гигабайтов данных.</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Обновление приводило к проблемам с драйверами и сбоям в работе сети.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Microsoft отозвала обновление через несколько дней после запуска.</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Пользователи, потерявшие файлы, не смогли их восстановить, так как система не создавала резервные копии перед обновлением.</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Репутация Microsoft пострадала, а компания вынуждена была пересмотреть процесс тестирования обновлений.</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Windows 10 версии 1809 была повторно выпущена только в ноябре 2018 года с исправлениями.</a:t>
            </a:r>
            <a:endParaRPr sz="900">
              <a:solidFill>
                <a:srgbClr val="FFFFFF"/>
              </a:solidFill>
              <a:latin typeface="Comfortaa"/>
              <a:ea typeface="Comfortaa"/>
              <a:cs typeface="Comfortaa"/>
              <a:sym typeface="Comfortaa"/>
            </a:endParaRPr>
          </a:p>
        </p:txBody>
      </p:sp>
      <p:sp>
        <p:nvSpPr>
          <p:cNvPr id="196" name="Google Shape;196;p20"/>
          <p:cNvSpPr/>
          <p:nvPr/>
        </p:nvSpPr>
        <p:spPr>
          <a:xfrm>
            <a:off x="2173555" y="1178722"/>
            <a:ext cx="734774"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197" name="Google Shape;197;p20"/>
          <p:cNvPicPr preferRelativeResize="0"/>
          <p:nvPr/>
        </p:nvPicPr>
        <p:blipFill>
          <a:blip r:embed="rId6">
            <a:alphaModFix/>
          </a:blip>
          <a:stretch>
            <a:fillRect/>
          </a:stretch>
        </p:blipFill>
        <p:spPr>
          <a:xfrm>
            <a:off x="531800" y="1515988"/>
            <a:ext cx="3404674" cy="19151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01" name="Shape 201"/>
        <p:cNvGrpSpPr/>
        <p:nvPr/>
      </p:nvGrpSpPr>
      <p:grpSpPr>
        <a:xfrm>
          <a:off x="0" y="0"/>
          <a:ext cx="0" cy="0"/>
          <a:chOff x="0" y="0"/>
          <a:chExt cx="0" cy="0"/>
        </a:xfrm>
      </p:grpSpPr>
      <p:pic>
        <p:nvPicPr>
          <p:cNvPr id="202" name="Google Shape;202;p21"/>
          <p:cNvPicPr preferRelativeResize="0"/>
          <p:nvPr/>
        </p:nvPicPr>
        <p:blipFill rotWithShape="1">
          <a:blip r:embed="rId3">
            <a:alphaModFix/>
          </a:blip>
          <a:srcRect b="0" l="0" r="0" t="0"/>
          <a:stretch/>
        </p:blipFill>
        <p:spPr>
          <a:xfrm>
            <a:off x="-163758" y="-87475"/>
            <a:ext cx="9554524" cy="5318439"/>
          </a:xfrm>
          <a:prstGeom prst="rect">
            <a:avLst/>
          </a:prstGeom>
          <a:noFill/>
          <a:ln>
            <a:noFill/>
          </a:ln>
        </p:spPr>
      </p:pic>
      <p:pic>
        <p:nvPicPr>
          <p:cNvPr id="203" name="Google Shape;203;p21"/>
          <p:cNvPicPr preferRelativeResize="0"/>
          <p:nvPr/>
        </p:nvPicPr>
        <p:blipFill rotWithShape="1">
          <a:blip r:embed="rId4">
            <a:alphaModFix/>
          </a:blip>
          <a:srcRect b="0" l="0" r="0" t="0"/>
          <a:stretch/>
        </p:blipFill>
        <p:spPr>
          <a:xfrm>
            <a:off x="413800" y="369813"/>
            <a:ext cx="11829279" cy="5048237"/>
          </a:xfrm>
          <a:prstGeom prst="rect">
            <a:avLst/>
          </a:prstGeom>
          <a:noFill/>
          <a:ln>
            <a:noFill/>
          </a:ln>
        </p:spPr>
      </p:pic>
      <p:grpSp>
        <p:nvGrpSpPr>
          <p:cNvPr id="204" name="Google Shape;204;p21"/>
          <p:cNvGrpSpPr/>
          <p:nvPr/>
        </p:nvGrpSpPr>
        <p:grpSpPr>
          <a:xfrm rot="5400000">
            <a:off x="121256" y="2391761"/>
            <a:ext cx="1404925" cy="204895"/>
            <a:chOff x="0" y="-47625"/>
            <a:chExt cx="812800" cy="118539"/>
          </a:xfrm>
        </p:grpSpPr>
        <p:sp>
          <p:nvSpPr>
            <p:cNvPr id="205" name="Google Shape;205;p2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06" name="Google Shape;206;p2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7" name="Google Shape;207;p21"/>
          <p:cNvGrpSpPr/>
          <p:nvPr/>
        </p:nvGrpSpPr>
        <p:grpSpPr>
          <a:xfrm rot="5400000">
            <a:off x="2641823" y="2356786"/>
            <a:ext cx="1404925" cy="204895"/>
            <a:chOff x="0" y="-47625"/>
            <a:chExt cx="812800" cy="118539"/>
          </a:xfrm>
        </p:grpSpPr>
        <p:sp>
          <p:nvSpPr>
            <p:cNvPr id="208" name="Google Shape;208;p21"/>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09" name="Google Shape;209;p21"/>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0" name="Google Shape;210;p21"/>
          <p:cNvSpPr txBox="1"/>
          <p:nvPr/>
        </p:nvSpPr>
        <p:spPr>
          <a:xfrm>
            <a:off x="4856075" y="785850"/>
            <a:ext cx="37455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TSB (2018)</a:t>
            </a:r>
            <a:endParaRPr b="1" i="0" sz="3000" u="none" cap="none" strike="noStrike">
              <a:solidFill>
                <a:srgbClr val="000000"/>
              </a:solidFill>
              <a:latin typeface="Comfortaa"/>
              <a:ea typeface="Comfortaa"/>
              <a:cs typeface="Comfortaa"/>
              <a:sym typeface="Comfortaa"/>
            </a:endParaRPr>
          </a:p>
        </p:txBody>
      </p:sp>
      <p:sp>
        <p:nvSpPr>
          <p:cNvPr id="211" name="Google Shape;211;p21"/>
          <p:cNvSpPr txBox="1"/>
          <p:nvPr/>
        </p:nvSpPr>
        <p:spPr>
          <a:xfrm>
            <a:off x="4519548" y="1341645"/>
            <a:ext cx="3773700" cy="30414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В апреле 2018 года британский банк TSB (Trustee Savings Bank) проводил масштабную миграцию данных 5,4 миллиона клиентов с одной ИТ-платформы на другую. Однако процесс прошел с серьезными ошибками, что привело к массовым сбоям в системе интернет-банкинга.</a:t>
            </a:r>
            <a:endParaRPr sz="900">
              <a:solidFill>
                <a:srgbClr val="FFFFFF"/>
              </a:solidFill>
              <a:latin typeface="Comfortaa"/>
              <a:ea typeface="Comfortaa"/>
              <a:cs typeface="Comfortaa"/>
              <a:sym typeface="Comfortaa"/>
            </a:endParaRPr>
          </a:p>
          <a:p>
            <a:pPr indent="0" lvl="0" marL="0" marR="0" rtl="0" algn="l">
              <a:lnSpc>
                <a:spcPct val="115000"/>
              </a:lnSpc>
              <a:spcBef>
                <a:spcPts val="0"/>
              </a:spcBef>
              <a:spcAft>
                <a:spcPts val="0"/>
              </a:spcAft>
              <a:buNone/>
            </a:pPr>
            <a:r>
              <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Происходили двойные списания и неправильные переводы.</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Работа мобильного и интернет-банка была нарушена на несколько недель.</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1,9 миллиона клиентов не могли получить доступ к своим счетам.</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Банк потерял </a:t>
            </a:r>
            <a:r>
              <a:rPr b="1" lang="ru" sz="1100">
                <a:solidFill>
                  <a:schemeClr val="accent1"/>
                </a:solidFill>
                <a:latin typeface="Comfortaa"/>
                <a:ea typeface="Comfortaa"/>
                <a:cs typeface="Comfortaa"/>
                <a:sym typeface="Comfortaa"/>
              </a:rPr>
              <a:t>430 миллионов долларов</a:t>
            </a:r>
            <a:r>
              <a:rPr lang="ru" sz="900">
                <a:solidFill>
                  <a:srgbClr val="FFFFFF"/>
                </a:solidFill>
                <a:latin typeface="Comfortaa"/>
                <a:ea typeface="Comfortaa"/>
                <a:cs typeface="Comfortaa"/>
                <a:sym typeface="Comfortaa"/>
              </a:rPr>
              <a:t> из-за компенсаций клиентам и штрафов.</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Репутация банка была серьезно подорвана, многие клиенты закрыли счета.</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Регуляторы Великобритании провели расследование, выявив слабую подготовку к переходу на новую платформу.</a:t>
            </a:r>
            <a:endParaRPr sz="900">
              <a:solidFill>
                <a:srgbClr val="FFFFFF"/>
              </a:solidFill>
              <a:latin typeface="Comfortaa"/>
              <a:ea typeface="Comfortaa"/>
              <a:cs typeface="Comfortaa"/>
              <a:sym typeface="Comfortaa"/>
            </a:endParaRPr>
          </a:p>
        </p:txBody>
      </p:sp>
      <p:sp>
        <p:nvSpPr>
          <p:cNvPr id="212" name="Google Shape;212;p21"/>
          <p:cNvSpPr/>
          <p:nvPr/>
        </p:nvSpPr>
        <p:spPr>
          <a:xfrm>
            <a:off x="782080" y="3396371"/>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213" name="Google Shape;213;p21"/>
          <p:cNvPicPr preferRelativeResize="0"/>
          <p:nvPr/>
        </p:nvPicPr>
        <p:blipFill>
          <a:blip r:embed="rId6">
            <a:alphaModFix/>
          </a:blip>
          <a:stretch>
            <a:fillRect/>
          </a:stretch>
        </p:blipFill>
        <p:spPr>
          <a:xfrm>
            <a:off x="847525" y="1247550"/>
            <a:ext cx="2432097" cy="2423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17" name="Shape 217"/>
        <p:cNvGrpSpPr/>
        <p:nvPr/>
      </p:nvGrpSpPr>
      <p:grpSpPr>
        <a:xfrm>
          <a:off x="0" y="0"/>
          <a:ext cx="0" cy="0"/>
          <a:chOff x="0" y="0"/>
          <a:chExt cx="0" cy="0"/>
        </a:xfrm>
      </p:grpSpPr>
      <p:pic>
        <p:nvPicPr>
          <p:cNvPr id="218" name="Google Shape;218;p22"/>
          <p:cNvPicPr preferRelativeResize="0"/>
          <p:nvPr/>
        </p:nvPicPr>
        <p:blipFill rotWithShape="1">
          <a:blip r:embed="rId3">
            <a:alphaModFix/>
          </a:blip>
          <a:srcRect b="0" l="0" r="0" t="0"/>
          <a:stretch/>
        </p:blipFill>
        <p:spPr>
          <a:xfrm>
            <a:off x="-5133858" y="-45625"/>
            <a:ext cx="9554524" cy="5318439"/>
          </a:xfrm>
          <a:prstGeom prst="rect">
            <a:avLst/>
          </a:prstGeom>
          <a:noFill/>
          <a:ln>
            <a:noFill/>
          </a:ln>
        </p:spPr>
      </p:pic>
      <p:pic>
        <p:nvPicPr>
          <p:cNvPr id="219" name="Google Shape;219;p22"/>
          <p:cNvPicPr preferRelativeResize="0"/>
          <p:nvPr/>
        </p:nvPicPr>
        <p:blipFill rotWithShape="1">
          <a:blip r:embed="rId4">
            <a:alphaModFix/>
          </a:blip>
          <a:srcRect b="0" l="0" r="0" t="0"/>
          <a:stretch/>
        </p:blipFill>
        <p:spPr>
          <a:xfrm>
            <a:off x="211625" y="838213"/>
            <a:ext cx="11829279" cy="5048237"/>
          </a:xfrm>
          <a:prstGeom prst="rect">
            <a:avLst/>
          </a:prstGeom>
          <a:noFill/>
          <a:ln>
            <a:noFill/>
          </a:ln>
        </p:spPr>
      </p:pic>
      <p:grpSp>
        <p:nvGrpSpPr>
          <p:cNvPr id="220" name="Google Shape;220;p22"/>
          <p:cNvGrpSpPr/>
          <p:nvPr/>
        </p:nvGrpSpPr>
        <p:grpSpPr>
          <a:xfrm rot="5400000">
            <a:off x="-176019" y="2428186"/>
            <a:ext cx="1404925" cy="204895"/>
            <a:chOff x="0" y="-47625"/>
            <a:chExt cx="812800" cy="118539"/>
          </a:xfrm>
        </p:grpSpPr>
        <p:sp>
          <p:nvSpPr>
            <p:cNvPr id="221" name="Google Shape;221;p22"/>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22" name="Google Shape;222;p22"/>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23" name="Google Shape;223;p22"/>
          <p:cNvGrpSpPr/>
          <p:nvPr/>
        </p:nvGrpSpPr>
        <p:grpSpPr>
          <a:xfrm rot="5400000">
            <a:off x="3260298" y="2375311"/>
            <a:ext cx="1404925" cy="204895"/>
            <a:chOff x="0" y="-47625"/>
            <a:chExt cx="812800" cy="118539"/>
          </a:xfrm>
        </p:grpSpPr>
        <p:sp>
          <p:nvSpPr>
            <p:cNvPr id="224" name="Google Shape;224;p22"/>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25" name="Google Shape;225;p22"/>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6" name="Google Shape;226;p22"/>
          <p:cNvSpPr txBox="1"/>
          <p:nvPr/>
        </p:nvSpPr>
        <p:spPr>
          <a:xfrm>
            <a:off x="4820100" y="510413"/>
            <a:ext cx="37455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Facebook (2021)</a:t>
            </a:r>
            <a:endParaRPr b="1" i="0" sz="3000" u="none" cap="none" strike="noStrike">
              <a:solidFill>
                <a:srgbClr val="000000"/>
              </a:solidFill>
              <a:latin typeface="Comfortaa"/>
              <a:ea typeface="Comfortaa"/>
              <a:cs typeface="Comfortaa"/>
              <a:sym typeface="Comfortaa"/>
            </a:endParaRPr>
          </a:p>
        </p:txBody>
      </p:sp>
      <p:sp>
        <p:nvSpPr>
          <p:cNvPr id="227" name="Google Shape;227;p22"/>
          <p:cNvSpPr txBox="1"/>
          <p:nvPr/>
        </p:nvSpPr>
        <p:spPr>
          <a:xfrm>
            <a:off x="4636948" y="1100482"/>
            <a:ext cx="3773700" cy="36789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chemeClr val="lt1"/>
                </a:solidFill>
                <a:latin typeface="Comfortaa"/>
                <a:ea typeface="Comfortaa"/>
                <a:cs typeface="Comfortaa"/>
                <a:sym typeface="Comfortaa"/>
              </a:rPr>
              <a:t>4 октября 2021 года крупнейшие платформы Meta — Facebook, Instagram, WhatsApp и Messenger — перестали работать по всему миру на более чем 6 часов. Причиной сбоя стала ошибка в протоколе BGP (Border Gateway Protocol), который отвечает за маршрутизацию интернет-трафика.</a:t>
            </a:r>
            <a:endParaRPr sz="900">
              <a:solidFill>
                <a:schemeClr val="lt1"/>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chemeClr val="lt1"/>
                </a:solidFill>
                <a:latin typeface="Comfortaa"/>
                <a:ea typeface="Comfortaa"/>
                <a:cs typeface="Comfortaa"/>
                <a:sym typeface="Comfortaa"/>
              </a:rPr>
              <a:t>Из-за некорректных настроек Facebook отключил себя от интернета, что сделало невозможным доступ к его сервисам не только для пользователей, но и для сотрудников компании.</a:t>
            </a:r>
            <a:endParaRPr sz="900">
              <a:solidFill>
                <a:schemeClr val="lt1"/>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chemeClr val="l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3,5 миллиарда пользователей не могли пользоваться Facebook, Instagram, WhatsApp и Messenger.</a:t>
            </a:r>
            <a:endParaRPr sz="900">
              <a:solidFill>
                <a:schemeClr val="l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Бизнесы и рекламодатели потеряли возможность взаимодействовать с клиентами, что привело к многомиллионным убыткам.</a:t>
            </a:r>
            <a:endParaRPr sz="900">
              <a:solidFill>
                <a:schemeClr val="l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Montserrat"/>
              <a:buChar char="●"/>
            </a:pPr>
            <a:r>
              <a:rPr lang="ru" sz="900">
                <a:solidFill>
                  <a:schemeClr val="lt1"/>
                </a:solidFill>
                <a:latin typeface="Comfortaa"/>
                <a:ea typeface="Comfortaa"/>
                <a:cs typeface="Comfortaa"/>
                <a:sym typeface="Comfortaa"/>
              </a:rPr>
              <a:t>Акции Meta упали на 5%, а Марк Цукерберг потерял около</a:t>
            </a:r>
            <a:r>
              <a:rPr b="1" lang="ru" sz="900">
                <a:solidFill>
                  <a:schemeClr val="lt1"/>
                </a:solidFill>
                <a:latin typeface="Comfortaa"/>
                <a:ea typeface="Comfortaa"/>
                <a:cs typeface="Comfortaa"/>
                <a:sym typeface="Comfortaa"/>
              </a:rPr>
              <a:t> </a:t>
            </a:r>
            <a:r>
              <a:rPr b="1" lang="ru" sz="1100">
                <a:solidFill>
                  <a:schemeClr val="accent1"/>
                </a:solidFill>
                <a:latin typeface="Comfortaa"/>
                <a:ea typeface="Comfortaa"/>
                <a:cs typeface="Comfortaa"/>
                <a:sym typeface="Comfortaa"/>
              </a:rPr>
              <a:t>6 миллиардов долларов</a:t>
            </a:r>
            <a:r>
              <a:rPr lang="ru" sz="1100">
                <a:solidFill>
                  <a:schemeClr val="accent1"/>
                </a:solidFill>
                <a:latin typeface="Comfortaa"/>
                <a:ea typeface="Comfortaa"/>
                <a:cs typeface="Comfortaa"/>
                <a:sym typeface="Comfortaa"/>
              </a:rPr>
              <a:t> за день.</a:t>
            </a:r>
            <a:endParaRPr sz="1100">
              <a:solidFill>
                <a:schemeClr val="accent1"/>
              </a:solidFill>
              <a:latin typeface="Comfortaa"/>
              <a:ea typeface="Comfortaa"/>
              <a:cs typeface="Comfortaa"/>
              <a:sym typeface="Comfortaa"/>
            </a:endParaRPr>
          </a:p>
          <a:p>
            <a:pPr indent="-285750" lvl="0" marL="457200" marR="0" rtl="0" algn="l">
              <a:lnSpc>
                <a:spcPct val="115000"/>
              </a:lnSpc>
              <a:spcBef>
                <a:spcPts val="0"/>
              </a:spcBef>
              <a:spcAft>
                <a:spcPts val="0"/>
              </a:spcAft>
              <a:buClr>
                <a:schemeClr val="lt1"/>
              </a:buClr>
              <a:buSzPts val="900"/>
              <a:buFont typeface="Comfortaa"/>
              <a:buChar char="●"/>
            </a:pPr>
            <a:r>
              <a:rPr lang="ru" sz="900">
                <a:solidFill>
                  <a:schemeClr val="lt1"/>
                </a:solidFill>
                <a:latin typeface="Comfortaa"/>
                <a:ea typeface="Comfortaa"/>
                <a:cs typeface="Comfortaa"/>
                <a:sym typeface="Comfortaa"/>
              </a:rPr>
              <a:t>Внутренние системы Facebook также зависели от его инфраструктуры, поэтому сотрудники не могли попасть в офисы, так как пропускные системы отказали.</a:t>
            </a:r>
            <a:endParaRPr sz="900">
              <a:solidFill>
                <a:schemeClr val="lt1"/>
              </a:solidFill>
              <a:latin typeface="Comfortaa"/>
              <a:ea typeface="Comfortaa"/>
              <a:cs typeface="Comfortaa"/>
              <a:sym typeface="Comfortaa"/>
            </a:endParaRPr>
          </a:p>
        </p:txBody>
      </p:sp>
      <p:sp>
        <p:nvSpPr>
          <p:cNvPr id="228" name="Google Shape;228;p22"/>
          <p:cNvSpPr/>
          <p:nvPr/>
        </p:nvSpPr>
        <p:spPr>
          <a:xfrm>
            <a:off x="424005" y="838222"/>
            <a:ext cx="734775"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229" name="Google Shape;229;p22"/>
          <p:cNvPicPr preferRelativeResize="0"/>
          <p:nvPr/>
        </p:nvPicPr>
        <p:blipFill>
          <a:blip r:embed="rId6">
            <a:alphaModFix/>
          </a:blip>
          <a:stretch>
            <a:fillRect/>
          </a:stretch>
        </p:blipFill>
        <p:spPr>
          <a:xfrm>
            <a:off x="538100" y="1439569"/>
            <a:ext cx="3322225" cy="2076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33" name="Shape 233"/>
        <p:cNvGrpSpPr/>
        <p:nvPr/>
      </p:nvGrpSpPr>
      <p:grpSpPr>
        <a:xfrm>
          <a:off x="0" y="0"/>
          <a:ext cx="0" cy="0"/>
          <a:chOff x="0" y="0"/>
          <a:chExt cx="0" cy="0"/>
        </a:xfrm>
      </p:grpSpPr>
      <p:pic>
        <p:nvPicPr>
          <p:cNvPr id="234" name="Google Shape;234;p23"/>
          <p:cNvPicPr preferRelativeResize="0"/>
          <p:nvPr/>
        </p:nvPicPr>
        <p:blipFill rotWithShape="1">
          <a:blip r:embed="rId3">
            <a:alphaModFix/>
          </a:blip>
          <a:srcRect b="0" l="0" r="0" t="0"/>
          <a:stretch/>
        </p:blipFill>
        <p:spPr>
          <a:xfrm>
            <a:off x="-203783" y="-14325"/>
            <a:ext cx="9554524" cy="5318439"/>
          </a:xfrm>
          <a:prstGeom prst="rect">
            <a:avLst/>
          </a:prstGeom>
          <a:noFill/>
          <a:ln>
            <a:noFill/>
          </a:ln>
        </p:spPr>
      </p:pic>
      <p:pic>
        <p:nvPicPr>
          <p:cNvPr id="235" name="Google Shape;235;p23"/>
          <p:cNvPicPr preferRelativeResize="0"/>
          <p:nvPr/>
        </p:nvPicPr>
        <p:blipFill rotWithShape="1">
          <a:blip r:embed="rId4">
            <a:alphaModFix/>
          </a:blip>
          <a:srcRect b="0" l="0" r="0" t="0"/>
          <a:stretch/>
        </p:blipFill>
        <p:spPr>
          <a:xfrm>
            <a:off x="248275" y="449650"/>
            <a:ext cx="11829279" cy="5048237"/>
          </a:xfrm>
          <a:prstGeom prst="rect">
            <a:avLst/>
          </a:prstGeom>
          <a:noFill/>
          <a:ln>
            <a:noFill/>
          </a:ln>
        </p:spPr>
      </p:pic>
      <p:grpSp>
        <p:nvGrpSpPr>
          <p:cNvPr id="236" name="Google Shape;236;p23"/>
          <p:cNvGrpSpPr/>
          <p:nvPr/>
        </p:nvGrpSpPr>
        <p:grpSpPr>
          <a:xfrm rot="5400000">
            <a:off x="-176019" y="2428186"/>
            <a:ext cx="1404925" cy="204895"/>
            <a:chOff x="0" y="-47625"/>
            <a:chExt cx="812800" cy="118539"/>
          </a:xfrm>
        </p:grpSpPr>
        <p:sp>
          <p:nvSpPr>
            <p:cNvPr id="237" name="Google Shape;237;p2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38" name="Google Shape;238;p2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39" name="Google Shape;239;p23"/>
          <p:cNvGrpSpPr/>
          <p:nvPr/>
        </p:nvGrpSpPr>
        <p:grpSpPr>
          <a:xfrm rot="5400000">
            <a:off x="3366798" y="2428186"/>
            <a:ext cx="1404925" cy="204895"/>
            <a:chOff x="0" y="-47625"/>
            <a:chExt cx="812800" cy="118539"/>
          </a:xfrm>
        </p:grpSpPr>
        <p:sp>
          <p:nvSpPr>
            <p:cNvPr id="240" name="Google Shape;240;p23"/>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5CE1E6"/>
            </a:solidFill>
            <a:ln>
              <a:noFill/>
            </a:ln>
          </p:spPr>
        </p:sp>
        <p:sp>
          <p:nvSpPr>
            <p:cNvPr id="241" name="Google Shape;241;p23"/>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42" name="Google Shape;242;p23"/>
          <p:cNvSpPr txBox="1"/>
          <p:nvPr/>
        </p:nvSpPr>
        <p:spPr>
          <a:xfrm>
            <a:off x="4572000" y="757825"/>
            <a:ext cx="3864300" cy="46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b="1" lang="ru" sz="3000">
                <a:solidFill>
                  <a:srgbClr val="FFFFFF"/>
                </a:solidFill>
                <a:latin typeface="Comfortaa"/>
                <a:ea typeface="Comfortaa"/>
                <a:cs typeface="Comfortaa"/>
                <a:sym typeface="Comfortaa"/>
              </a:rPr>
              <a:t>CrowdStrike (2024 )</a:t>
            </a:r>
            <a:endParaRPr b="1" i="0" sz="3000" u="none" cap="none" strike="noStrike">
              <a:solidFill>
                <a:srgbClr val="000000"/>
              </a:solidFill>
              <a:latin typeface="Comfortaa"/>
              <a:ea typeface="Comfortaa"/>
              <a:cs typeface="Comfortaa"/>
              <a:sym typeface="Comfortaa"/>
            </a:endParaRPr>
          </a:p>
        </p:txBody>
      </p:sp>
      <p:sp>
        <p:nvSpPr>
          <p:cNvPr id="243" name="Google Shape;243;p23"/>
          <p:cNvSpPr txBox="1"/>
          <p:nvPr/>
        </p:nvSpPr>
        <p:spPr>
          <a:xfrm>
            <a:off x="4286925" y="1341650"/>
            <a:ext cx="4251300" cy="3386400"/>
          </a:xfrm>
          <a:prstGeom prst="rect">
            <a:avLst/>
          </a:prstGeom>
          <a:noFill/>
          <a:ln>
            <a:noFill/>
          </a:ln>
        </p:spPr>
        <p:txBody>
          <a:bodyPr anchorCtr="0" anchor="t" bIns="0" lIns="0" spcFirstLastPara="1" rIns="0" wrap="square" tIns="0">
            <a:spAutoFit/>
          </a:bodyPr>
          <a:lstStyle/>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19 июля 2024 года обновление антивирусного ПО CrowdStrike вызвало глобальные сбои в работе операционной системы Windows. Ошибка в обновлении затронула ядро системы, что привело к массовым сбоям и невозможности загрузки компьютеров.</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Наиболее пострадавшие отрасли:</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Авиакомпании – авиасистемы перестали работать, что привело к отмене и задержке тысяч рейсов.</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Финансовые организации – сбои в банках, биржах и платежных системах.</a:t>
            </a:r>
            <a:endParaRPr sz="900">
              <a:solidFill>
                <a:srgbClr val="FFFFFF"/>
              </a:solidFill>
              <a:latin typeface="Comfortaa"/>
              <a:ea typeface="Comfortaa"/>
              <a:cs typeface="Comfortaa"/>
              <a:sym typeface="Comfortaa"/>
            </a:endParaRPr>
          </a:p>
          <a:p>
            <a:pPr indent="-285750" lvl="0" marL="457200" marR="0" rtl="0" algn="l">
              <a:lnSpc>
                <a:spcPct val="115000"/>
              </a:lnSpc>
              <a:spcBef>
                <a:spcPts val="0"/>
              </a:spcBef>
              <a:spcAft>
                <a:spcPts val="0"/>
              </a:spcAft>
              <a:buClr>
                <a:srgbClr val="FFFFFF"/>
              </a:buClr>
              <a:buSzPts val="900"/>
              <a:buFont typeface="Comfortaa"/>
              <a:buChar char="●"/>
            </a:pPr>
            <a:r>
              <a:rPr lang="ru" sz="900">
                <a:solidFill>
                  <a:srgbClr val="FFFFFF"/>
                </a:solidFill>
                <a:latin typeface="Comfortaa"/>
                <a:ea typeface="Comfortaa"/>
                <a:cs typeface="Comfortaa"/>
                <a:sym typeface="Comfortaa"/>
              </a:rPr>
              <a:t>Медиа и интернет-сервисы – отключение серверов, падение новостных порталов и облачных хранилищ.</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Сотни авиарейсов по всему миру были отменены или задержаны.</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Банковские и биржевые системы частично перестали работать, вызвав панические настроения на финансовых рынках.</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Крупные компании и госучреждения столкнулись с нарушением работы своих ИТ-инфраструктур.</a:t>
            </a:r>
            <a:endParaRPr sz="900">
              <a:solidFill>
                <a:srgbClr val="FFFFFF"/>
              </a:solidFill>
              <a:latin typeface="Comfortaa"/>
              <a:ea typeface="Comfortaa"/>
              <a:cs typeface="Comfortaa"/>
              <a:sym typeface="Comfortaa"/>
            </a:endParaRPr>
          </a:p>
          <a:p>
            <a:pPr indent="0" lvl="1" marL="0" marR="0" rtl="0" algn="l">
              <a:lnSpc>
                <a:spcPct val="115000"/>
              </a:lnSpc>
              <a:spcBef>
                <a:spcPts val="0"/>
              </a:spcBef>
              <a:spcAft>
                <a:spcPts val="0"/>
              </a:spcAft>
              <a:buClr>
                <a:srgbClr val="000000"/>
              </a:buClr>
              <a:buSzPts val="1100"/>
              <a:buFont typeface="Arial"/>
              <a:buNone/>
            </a:pPr>
            <a:r>
              <a:rPr lang="ru" sz="900">
                <a:solidFill>
                  <a:srgbClr val="FFFFFF"/>
                </a:solidFill>
                <a:latin typeface="Comfortaa"/>
                <a:ea typeface="Comfortaa"/>
                <a:cs typeface="Comfortaa"/>
                <a:sym typeface="Comfortaa"/>
              </a:rPr>
              <a:t>Восстановление работы заняло более суток, а компании понесли </a:t>
            </a:r>
            <a:r>
              <a:rPr b="1" lang="ru" sz="1300">
                <a:solidFill>
                  <a:schemeClr val="accent1"/>
                </a:solidFill>
                <a:latin typeface="Comfortaa"/>
                <a:ea typeface="Comfortaa"/>
                <a:cs typeface="Comfortaa"/>
                <a:sym typeface="Comfortaa"/>
              </a:rPr>
              <a:t>многомиллионные убытки.</a:t>
            </a:r>
            <a:endParaRPr b="1" sz="1300">
              <a:solidFill>
                <a:schemeClr val="accent1"/>
              </a:solidFill>
              <a:latin typeface="Comfortaa"/>
              <a:ea typeface="Comfortaa"/>
              <a:cs typeface="Comfortaa"/>
              <a:sym typeface="Comfortaa"/>
            </a:endParaRPr>
          </a:p>
        </p:txBody>
      </p:sp>
      <p:sp>
        <p:nvSpPr>
          <p:cNvPr id="244" name="Google Shape;244;p23"/>
          <p:cNvSpPr/>
          <p:nvPr/>
        </p:nvSpPr>
        <p:spPr>
          <a:xfrm>
            <a:off x="940455" y="1092072"/>
            <a:ext cx="734774" cy="736113"/>
          </a:xfrm>
          <a:custGeom>
            <a:rect b="b" l="l" r="r" t="t"/>
            <a:pathLst>
              <a:path extrusionOk="0" h="1472226" w="1469549">
                <a:moveTo>
                  <a:pt x="0" y="0"/>
                </a:moveTo>
                <a:lnTo>
                  <a:pt x="1469549" y="0"/>
                </a:lnTo>
                <a:lnTo>
                  <a:pt x="1469549" y="1472226"/>
                </a:lnTo>
                <a:lnTo>
                  <a:pt x="0" y="1472226"/>
                </a:lnTo>
                <a:lnTo>
                  <a:pt x="0" y="0"/>
                </a:lnTo>
                <a:close/>
              </a:path>
            </a:pathLst>
          </a:custGeom>
          <a:blipFill rotWithShape="1">
            <a:blip r:embed="rId5">
              <a:alphaModFix/>
            </a:blip>
            <a:stretch>
              <a:fillRect b="0" l="0" r="0" t="0"/>
            </a:stretch>
          </a:blipFill>
          <a:ln>
            <a:noFill/>
          </a:ln>
        </p:spPr>
      </p:sp>
      <p:pic>
        <p:nvPicPr>
          <p:cNvPr id="245" name="Google Shape;245;p23"/>
          <p:cNvPicPr preferRelativeResize="0"/>
          <p:nvPr/>
        </p:nvPicPr>
        <p:blipFill>
          <a:blip r:embed="rId6">
            <a:alphaModFix/>
          </a:blip>
          <a:stretch>
            <a:fillRect/>
          </a:stretch>
        </p:blipFill>
        <p:spPr>
          <a:xfrm>
            <a:off x="539725" y="1526823"/>
            <a:ext cx="3427101" cy="1926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49" name="Shape 249"/>
        <p:cNvGrpSpPr/>
        <p:nvPr/>
      </p:nvGrpSpPr>
      <p:grpSpPr>
        <a:xfrm>
          <a:off x="0" y="0"/>
          <a:ext cx="0" cy="0"/>
          <a:chOff x="0" y="0"/>
          <a:chExt cx="0" cy="0"/>
        </a:xfrm>
      </p:grpSpPr>
      <p:pic>
        <p:nvPicPr>
          <p:cNvPr id="250" name="Google Shape;250;p24"/>
          <p:cNvPicPr preferRelativeResize="0"/>
          <p:nvPr/>
        </p:nvPicPr>
        <p:blipFill rotWithShape="1">
          <a:blip r:embed="rId3">
            <a:alphaModFix/>
          </a:blip>
          <a:srcRect b="0" l="0" r="0" t="0"/>
          <a:stretch/>
        </p:blipFill>
        <p:spPr>
          <a:xfrm>
            <a:off x="5314550" y="209494"/>
            <a:ext cx="3604637" cy="4634100"/>
          </a:xfrm>
          <a:prstGeom prst="rect">
            <a:avLst/>
          </a:prstGeom>
          <a:noFill/>
          <a:ln>
            <a:noFill/>
          </a:ln>
        </p:spPr>
      </p:pic>
      <p:grpSp>
        <p:nvGrpSpPr>
          <p:cNvPr id="251" name="Google Shape;251;p24"/>
          <p:cNvGrpSpPr/>
          <p:nvPr/>
        </p:nvGrpSpPr>
        <p:grpSpPr>
          <a:xfrm>
            <a:off x="514350" y="359003"/>
            <a:ext cx="4550847" cy="1231006"/>
            <a:chOff x="0" y="-47625"/>
            <a:chExt cx="2397075" cy="524100"/>
          </a:xfrm>
        </p:grpSpPr>
        <p:sp>
          <p:nvSpPr>
            <p:cNvPr id="252" name="Google Shape;252;p24"/>
            <p:cNvSpPr/>
            <p:nvPr/>
          </p:nvSpPr>
          <p:spPr>
            <a:xfrm>
              <a:off x="0" y="0"/>
              <a:ext cx="2397075" cy="476325"/>
            </a:xfrm>
            <a:custGeom>
              <a:rect b="b" l="l" r="r" t="t"/>
              <a:pathLst>
                <a:path extrusionOk="0" h="476325" w="2397075">
                  <a:moveTo>
                    <a:pt x="0" y="0"/>
                  </a:moveTo>
                  <a:lnTo>
                    <a:pt x="2397075" y="0"/>
                  </a:lnTo>
                  <a:lnTo>
                    <a:pt x="2397075" y="476325"/>
                  </a:lnTo>
                  <a:lnTo>
                    <a:pt x="0" y="47632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253" name="Google Shape;253;p24"/>
            <p:cNvSpPr txBox="1"/>
            <p:nvPr/>
          </p:nvSpPr>
          <p:spPr>
            <a:xfrm>
              <a:off x="0" y="-47625"/>
              <a:ext cx="2397000" cy="5241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54" name="Google Shape;254;p24"/>
          <p:cNvGrpSpPr/>
          <p:nvPr/>
        </p:nvGrpSpPr>
        <p:grpSpPr>
          <a:xfrm>
            <a:off x="514350" y="1987349"/>
            <a:ext cx="865725" cy="956274"/>
            <a:chOff x="0" y="-47625"/>
            <a:chExt cx="456005" cy="503700"/>
          </a:xfrm>
        </p:grpSpPr>
        <p:sp>
          <p:nvSpPr>
            <p:cNvPr id="255" name="Google Shape;255;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256" name="Google Shape;256;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57" name="Google Shape;257;p24"/>
          <p:cNvGrpSpPr/>
          <p:nvPr/>
        </p:nvGrpSpPr>
        <p:grpSpPr>
          <a:xfrm>
            <a:off x="575719" y="2048485"/>
            <a:ext cx="865725" cy="956274"/>
            <a:chOff x="0" y="-47625"/>
            <a:chExt cx="456005" cy="503700"/>
          </a:xfrm>
        </p:grpSpPr>
        <p:sp>
          <p:nvSpPr>
            <p:cNvPr id="258" name="Google Shape;258;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259" name="Google Shape;259;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60" name="Google Shape;260;p24"/>
          <p:cNvGrpSpPr/>
          <p:nvPr/>
        </p:nvGrpSpPr>
        <p:grpSpPr>
          <a:xfrm>
            <a:off x="3303937" y="2048485"/>
            <a:ext cx="865725" cy="956274"/>
            <a:chOff x="0" y="-47625"/>
            <a:chExt cx="456005" cy="503700"/>
          </a:xfrm>
        </p:grpSpPr>
        <p:sp>
          <p:nvSpPr>
            <p:cNvPr id="261" name="Google Shape;261;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262" name="Google Shape;262;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63" name="Google Shape;263;p24"/>
          <p:cNvGrpSpPr/>
          <p:nvPr/>
        </p:nvGrpSpPr>
        <p:grpSpPr>
          <a:xfrm>
            <a:off x="6011500" y="2048485"/>
            <a:ext cx="865725" cy="956274"/>
            <a:chOff x="0" y="-47625"/>
            <a:chExt cx="456005" cy="503700"/>
          </a:xfrm>
        </p:grpSpPr>
        <p:sp>
          <p:nvSpPr>
            <p:cNvPr id="264" name="Google Shape;264;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265" name="Google Shape;265;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66" name="Google Shape;266;p24"/>
          <p:cNvGrpSpPr/>
          <p:nvPr/>
        </p:nvGrpSpPr>
        <p:grpSpPr>
          <a:xfrm>
            <a:off x="3223760" y="1987349"/>
            <a:ext cx="865725" cy="956274"/>
            <a:chOff x="0" y="-47625"/>
            <a:chExt cx="456005" cy="503700"/>
          </a:xfrm>
        </p:grpSpPr>
        <p:sp>
          <p:nvSpPr>
            <p:cNvPr id="267" name="Google Shape;267;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268" name="Google Shape;268;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9" name="Google Shape;269;p24"/>
          <p:cNvSpPr txBox="1"/>
          <p:nvPr/>
        </p:nvSpPr>
        <p:spPr>
          <a:xfrm>
            <a:off x="5519177" y="3251075"/>
            <a:ext cx="22698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lang="ru" sz="1100">
                <a:solidFill>
                  <a:srgbClr val="FFFFFF"/>
                </a:solidFill>
                <a:latin typeface="Comfortaa"/>
                <a:ea typeface="Comfortaa"/>
                <a:cs typeface="Comfortaa"/>
                <a:sym typeface="Comfortaa"/>
              </a:rPr>
              <a:t>Применение строгих стандартов тестирования помогает избежать ошибок, которые могут привести к катастрофам</a:t>
            </a:r>
            <a:endParaRPr i="0" sz="700" u="none" cap="none" strike="noStrike">
              <a:solidFill>
                <a:srgbClr val="000000"/>
              </a:solidFill>
              <a:latin typeface="Comfortaa"/>
              <a:ea typeface="Comfortaa"/>
              <a:cs typeface="Comfortaa"/>
              <a:sym typeface="Comfortaa"/>
            </a:endParaRPr>
          </a:p>
        </p:txBody>
      </p:sp>
      <p:sp>
        <p:nvSpPr>
          <p:cNvPr id="270" name="Google Shape;270;p24"/>
          <p:cNvSpPr txBox="1"/>
          <p:nvPr/>
        </p:nvSpPr>
        <p:spPr>
          <a:xfrm>
            <a:off x="514350" y="3387568"/>
            <a:ext cx="1854300" cy="107700"/>
          </a:xfrm>
          <a:prstGeom prst="rect">
            <a:avLst/>
          </a:prstGeom>
          <a:noFill/>
          <a:ln>
            <a:noFill/>
          </a:ln>
        </p:spPr>
        <p:txBody>
          <a:bodyPr anchorCtr="0" anchor="t" bIns="0" lIns="0" spcFirstLastPara="1" rIns="0" wrap="square" tIns="0">
            <a:spAutoFit/>
          </a:bodyPr>
          <a:lstStyle/>
          <a:p>
            <a:pPr indent="0" lvl="0" marL="0" marR="0" rtl="0" algn="l">
              <a:lnSpc>
                <a:spcPct val="119990"/>
              </a:lnSpc>
              <a:spcBef>
                <a:spcPts val="0"/>
              </a:spcBef>
              <a:spcAft>
                <a:spcPts val="0"/>
              </a:spcAft>
              <a:buClr>
                <a:srgbClr val="000000"/>
              </a:buClr>
              <a:buSzPts val="3100"/>
              <a:buFont typeface="Arial"/>
              <a:buNone/>
            </a:pPr>
            <a:r>
              <a:t/>
            </a:r>
            <a:endParaRPr b="0" i="0" sz="700" u="none" cap="none" strike="noStrike">
              <a:solidFill>
                <a:srgbClr val="000000"/>
              </a:solidFill>
              <a:latin typeface="Arial"/>
              <a:ea typeface="Arial"/>
              <a:cs typeface="Arial"/>
              <a:sym typeface="Arial"/>
            </a:endParaRPr>
          </a:p>
        </p:txBody>
      </p:sp>
      <p:sp>
        <p:nvSpPr>
          <p:cNvPr id="271" name="Google Shape;271;p24"/>
          <p:cNvSpPr txBox="1"/>
          <p:nvPr/>
        </p:nvSpPr>
        <p:spPr>
          <a:xfrm>
            <a:off x="307500" y="3251075"/>
            <a:ext cx="18963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lang="ru" sz="1100">
                <a:solidFill>
                  <a:srgbClr val="FFFFFF"/>
                </a:solidFill>
                <a:latin typeface="Comfortaa"/>
                <a:ea typeface="Comfortaa"/>
                <a:cs typeface="Comfortaa"/>
                <a:sym typeface="Comfortaa"/>
              </a:rPr>
              <a:t>Ошибки могут привести к огромным финансовым потерям и сбоям в критически важных сферах.</a:t>
            </a:r>
            <a:endParaRPr i="0" sz="700" u="none" cap="none" strike="noStrike">
              <a:solidFill>
                <a:srgbClr val="000000"/>
              </a:solidFill>
              <a:latin typeface="Comfortaa"/>
              <a:ea typeface="Comfortaa"/>
              <a:cs typeface="Comfortaa"/>
              <a:sym typeface="Comfortaa"/>
            </a:endParaRPr>
          </a:p>
        </p:txBody>
      </p:sp>
      <p:sp>
        <p:nvSpPr>
          <p:cNvPr id="272" name="Google Shape;272;p24"/>
          <p:cNvSpPr txBox="1"/>
          <p:nvPr/>
        </p:nvSpPr>
        <p:spPr>
          <a:xfrm>
            <a:off x="594527" y="2128184"/>
            <a:ext cx="705300" cy="16932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5000"/>
              <a:buFont typeface="Arial"/>
              <a:buNone/>
            </a:pPr>
            <a:r>
              <a:rPr b="0" i="0" lang="ru" sz="5000" u="none" cap="none" strike="noStrike">
                <a:solidFill>
                  <a:srgbClr val="FFFFFF"/>
                </a:solidFill>
                <a:latin typeface="Teko"/>
                <a:ea typeface="Teko"/>
                <a:cs typeface="Teko"/>
                <a:sym typeface="Teko"/>
              </a:rPr>
              <a:t>01.</a:t>
            </a:r>
            <a:endParaRPr b="0" i="0" sz="700" u="none" cap="none" strike="noStrike">
              <a:solidFill>
                <a:srgbClr val="000000"/>
              </a:solidFill>
              <a:latin typeface="Arial"/>
              <a:ea typeface="Arial"/>
              <a:cs typeface="Arial"/>
              <a:sym typeface="Arial"/>
            </a:endParaRPr>
          </a:p>
        </p:txBody>
      </p:sp>
      <p:grpSp>
        <p:nvGrpSpPr>
          <p:cNvPr id="273" name="Google Shape;273;p24"/>
          <p:cNvGrpSpPr/>
          <p:nvPr/>
        </p:nvGrpSpPr>
        <p:grpSpPr>
          <a:xfrm>
            <a:off x="5933169" y="1987349"/>
            <a:ext cx="865725" cy="956274"/>
            <a:chOff x="0" y="-47625"/>
            <a:chExt cx="456005" cy="503700"/>
          </a:xfrm>
        </p:grpSpPr>
        <p:sp>
          <p:nvSpPr>
            <p:cNvPr id="274" name="Google Shape;274;p24"/>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275" name="Google Shape;275;p24"/>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6" name="Google Shape;276;p24"/>
          <p:cNvSpPr txBox="1"/>
          <p:nvPr/>
        </p:nvSpPr>
        <p:spPr>
          <a:xfrm>
            <a:off x="594525" y="568150"/>
            <a:ext cx="4335600" cy="9144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6000"/>
              <a:buFont typeface="Arial"/>
              <a:buNone/>
            </a:pPr>
            <a:r>
              <a:rPr lang="ru" sz="2700">
                <a:solidFill>
                  <a:srgbClr val="FFFFFF"/>
                </a:solidFill>
                <a:latin typeface="Comfortaa Medium"/>
                <a:ea typeface="Comfortaa Medium"/>
                <a:cs typeface="Comfortaa Medium"/>
                <a:sym typeface="Comfortaa Medium"/>
              </a:rPr>
              <a:t>Чему нас учат эти ошибки?</a:t>
            </a:r>
            <a:endParaRPr i="0" sz="2700" u="none" cap="none" strike="noStrike">
              <a:solidFill>
                <a:srgbClr val="000000"/>
              </a:solidFill>
              <a:latin typeface="Comfortaa Medium"/>
              <a:ea typeface="Comfortaa Medium"/>
              <a:cs typeface="Comfortaa Medium"/>
              <a:sym typeface="Comfortaa Medium"/>
            </a:endParaRPr>
          </a:p>
        </p:txBody>
      </p:sp>
      <p:sp>
        <p:nvSpPr>
          <p:cNvPr id="277" name="Google Shape;277;p24"/>
          <p:cNvSpPr txBox="1"/>
          <p:nvPr/>
        </p:nvSpPr>
        <p:spPr>
          <a:xfrm>
            <a:off x="6054344" y="2128184"/>
            <a:ext cx="705300" cy="16932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5000"/>
              <a:buFont typeface="Arial"/>
              <a:buNone/>
            </a:pPr>
            <a:r>
              <a:rPr b="0" i="0" lang="ru" sz="5000" u="none" cap="none" strike="noStrike">
                <a:solidFill>
                  <a:srgbClr val="FFFFFF"/>
                </a:solidFill>
                <a:latin typeface="Teko"/>
                <a:ea typeface="Teko"/>
                <a:cs typeface="Teko"/>
                <a:sym typeface="Teko"/>
              </a:rPr>
              <a:t>03.</a:t>
            </a:r>
            <a:endParaRPr b="0" i="0" sz="700" u="none" cap="none" strike="noStrike">
              <a:solidFill>
                <a:srgbClr val="000000"/>
              </a:solidFill>
              <a:latin typeface="Arial"/>
              <a:ea typeface="Arial"/>
              <a:cs typeface="Arial"/>
              <a:sym typeface="Arial"/>
            </a:endParaRPr>
          </a:p>
        </p:txBody>
      </p:sp>
      <p:sp>
        <p:nvSpPr>
          <p:cNvPr id="278" name="Google Shape;278;p24"/>
          <p:cNvSpPr txBox="1"/>
          <p:nvPr/>
        </p:nvSpPr>
        <p:spPr>
          <a:xfrm>
            <a:off x="3223760" y="3362562"/>
            <a:ext cx="1653000" cy="107700"/>
          </a:xfrm>
          <a:prstGeom prst="rect">
            <a:avLst/>
          </a:prstGeom>
          <a:noFill/>
          <a:ln>
            <a:noFill/>
          </a:ln>
        </p:spPr>
        <p:txBody>
          <a:bodyPr anchorCtr="0" anchor="t" bIns="0" lIns="0" spcFirstLastPara="1" rIns="0" wrap="square" tIns="0">
            <a:spAutoFit/>
          </a:bodyPr>
          <a:lstStyle/>
          <a:p>
            <a:pPr indent="0" lvl="0" marL="0" marR="0" rtl="0" algn="l">
              <a:lnSpc>
                <a:spcPct val="119990"/>
              </a:lnSpc>
              <a:spcBef>
                <a:spcPts val="0"/>
              </a:spcBef>
              <a:spcAft>
                <a:spcPts val="0"/>
              </a:spcAft>
              <a:buClr>
                <a:srgbClr val="000000"/>
              </a:buClr>
              <a:buSzPts val="3100"/>
              <a:buFont typeface="Arial"/>
              <a:buNone/>
            </a:pPr>
            <a:r>
              <a:t/>
            </a:r>
            <a:endParaRPr b="0" i="0" sz="700" u="none" cap="none" strike="noStrike">
              <a:solidFill>
                <a:srgbClr val="000000"/>
              </a:solidFill>
              <a:latin typeface="Arial"/>
              <a:ea typeface="Arial"/>
              <a:cs typeface="Arial"/>
              <a:sym typeface="Arial"/>
            </a:endParaRPr>
          </a:p>
        </p:txBody>
      </p:sp>
      <p:sp>
        <p:nvSpPr>
          <p:cNvPr id="279" name="Google Shape;279;p24"/>
          <p:cNvSpPr txBox="1"/>
          <p:nvPr/>
        </p:nvSpPr>
        <p:spPr>
          <a:xfrm>
            <a:off x="2687026" y="3251075"/>
            <a:ext cx="2243100" cy="1354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lang="ru" sz="1100">
                <a:solidFill>
                  <a:srgbClr val="FFFFFF"/>
                </a:solidFill>
                <a:latin typeface="Comfortaa"/>
                <a:ea typeface="Comfortaa"/>
                <a:cs typeface="Comfortaa"/>
                <a:sym typeface="Comfortaa"/>
              </a:rPr>
              <a:t>Программисты, тестировщики и команды должны работать с максимальной точностью, особенно когда речь идет о безопасности и бизнесе</a:t>
            </a:r>
            <a:endParaRPr i="0" sz="700" u="none" cap="none" strike="noStrike">
              <a:solidFill>
                <a:srgbClr val="000000"/>
              </a:solidFill>
              <a:latin typeface="Comfortaa"/>
              <a:ea typeface="Comfortaa"/>
              <a:cs typeface="Comfortaa"/>
              <a:sym typeface="Comfortaa"/>
            </a:endParaRPr>
          </a:p>
        </p:txBody>
      </p:sp>
      <p:sp>
        <p:nvSpPr>
          <p:cNvPr id="280" name="Google Shape;280;p24"/>
          <p:cNvSpPr txBox="1"/>
          <p:nvPr/>
        </p:nvSpPr>
        <p:spPr>
          <a:xfrm>
            <a:off x="3303937" y="2128184"/>
            <a:ext cx="705300" cy="16932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5000"/>
              <a:buFont typeface="Arial"/>
              <a:buNone/>
            </a:pPr>
            <a:r>
              <a:rPr b="0" i="0" lang="ru" sz="5000" u="none" cap="none" strike="noStrike">
                <a:solidFill>
                  <a:srgbClr val="FFFFFF"/>
                </a:solidFill>
                <a:latin typeface="Teko"/>
                <a:ea typeface="Teko"/>
                <a:cs typeface="Teko"/>
                <a:sym typeface="Teko"/>
              </a:rPr>
              <a:t>02.</a:t>
            </a:r>
            <a:endParaRPr b="0" i="0" sz="700" u="none" cap="none" strike="noStrike">
              <a:solidFill>
                <a:srgbClr val="000000"/>
              </a:solidFill>
              <a:latin typeface="Arial"/>
              <a:ea typeface="Arial"/>
              <a:cs typeface="Arial"/>
              <a:sym typeface="Arial"/>
            </a:endParaRPr>
          </a:p>
        </p:txBody>
      </p:sp>
      <p:sp>
        <p:nvSpPr>
          <p:cNvPr id="281" name="Google Shape;281;p24"/>
          <p:cNvSpPr/>
          <p:nvPr/>
        </p:nvSpPr>
        <p:spPr>
          <a:xfrm>
            <a:off x="8026591" y="2838375"/>
            <a:ext cx="734774" cy="736113"/>
          </a:xfrm>
          <a:custGeom>
            <a:rect b="b" l="l" r="r" t="t"/>
            <a:pathLst>
              <a:path extrusionOk="0" h="1472226" w="1469549">
                <a:moveTo>
                  <a:pt x="0" y="0"/>
                </a:moveTo>
                <a:lnTo>
                  <a:pt x="1469550" y="0"/>
                </a:lnTo>
                <a:lnTo>
                  <a:pt x="1469550" y="1472226"/>
                </a:lnTo>
                <a:lnTo>
                  <a:pt x="0" y="1472226"/>
                </a:lnTo>
                <a:lnTo>
                  <a:pt x="0" y="0"/>
                </a:lnTo>
                <a:close/>
              </a:path>
            </a:pathLst>
          </a:custGeom>
          <a:blipFill rotWithShape="1">
            <a:blip r:embed="rId4">
              <a:alphaModFix/>
            </a:blip>
            <a:stretch>
              <a:fillRect b="0" l="0" r="0" t="0"/>
            </a:stretch>
          </a:blipFill>
          <a:ln>
            <a:noFill/>
          </a:ln>
        </p:spPr>
      </p:sp>
      <p:pic>
        <p:nvPicPr>
          <p:cNvPr id="282" name="Google Shape;282;p24"/>
          <p:cNvPicPr preferRelativeResize="0"/>
          <p:nvPr/>
        </p:nvPicPr>
        <p:blipFill rotWithShape="1">
          <a:blip r:embed="rId5">
            <a:alphaModFix/>
          </a:blip>
          <a:srcRect b="0" l="0" r="0" t="0"/>
          <a:stretch/>
        </p:blipFill>
        <p:spPr>
          <a:xfrm>
            <a:off x="6976888" y="358994"/>
            <a:ext cx="2627863" cy="1359250"/>
          </a:xfrm>
          <a:prstGeom prst="rect">
            <a:avLst/>
          </a:prstGeom>
          <a:noFill/>
          <a:ln>
            <a:noFill/>
          </a:ln>
        </p:spPr>
      </p:pic>
      <p:pic>
        <p:nvPicPr>
          <p:cNvPr id="283" name="Google Shape;283;p24"/>
          <p:cNvPicPr preferRelativeResize="0"/>
          <p:nvPr/>
        </p:nvPicPr>
        <p:blipFill rotWithShape="1">
          <a:blip r:embed="rId6">
            <a:alphaModFix/>
          </a:blip>
          <a:srcRect b="0" l="0" r="0" t="0"/>
          <a:stretch/>
        </p:blipFill>
        <p:spPr>
          <a:xfrm>
            <a:off x="132200" y="2350175"/>
            <a:ext cx="382150" cy="2169800"/>
          </a:xfrm>
          <a:prstGeom prst="rect">
            <a:avLst/>
          </a:prstGeom>
          <a:noFill/>
          <a:ln>
            <a:noFill/>
          </a:ln>
        </p:spPr>
      </p:pic>
      <p:pic>
        <p:nvPicPr>
          <p:cNvPr id="284" name="Google Shape;284;p24"/>
          <p:cNvPicPr preferRelativeResize="0"/>
          <p:nvPr/>
        </p:nvPicPr>
        <p:blipFill rotWithShape="1">
          <a:blip r:embed="rId7">
            <a:alphaModFix/>
          </a:blip>
          <a:srcRect b="0" l="0" r="0" t="0"/>
          <a:stretch/>
        </p:blipFill>
        <p:spPr>
          <a:xfrm>
            <a:off x="7351225" y="2448077"/>
            <a:ext cx="565550" cy="20718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288" name="Shape 288"/>
        <p:cNvGrpSpPr/>
        <p:nvPr/>
      </p:nvGrpSpPr>
      <p:grpSpPr>
        <a:xfrm>
          <a:off x="0" y="0"/>
          <a:ext cx="0" cy="0"/>
          <a:chOff x="0" y="0"/>
          <a:chExt cx="0" cy="0"/>
        </a:xfrm>
      </p:grpSpPr>
      <p:pic>
        <p:nvPicPr>
          <p:cNvPr id="289" name="Google Shape;289;p25"/>
          <p:cNvPicPr preferRelativeResize="0"/>
          <p:nvPr/>
        </p:nvPicPr>
        <p:blipFill rotWithShape="1">
          <a:blip r:embed="rId3">
            <a:alphaModFix/>
          </a:blip>
          <a:srcRect b="0" l="0" r="0" t="0"/>
          <a:stretch/>
        </p:blipFill>
        <p:spPr>
          <a:xfrm>
            <a:off x="-1772113" y="264525"/>
            <a:ext cx="12972242" cy="5206626"/>
          </a:xfrm>
          <a:prstGeom prst="rect">
            <a:avLst/>
          </a:prstGeom>
          <a:noFill/>
          <a:ln>
            <a:noFill/>
          </a:ln>
        </p:spPr>
      </p:pic>
      <p:pic>
        <p:nvPicPr>
          <p:cNvPr id="290" name="Google Shape;290;p25"/>
          <p:cNvPicPr preferRelativeResize="0"/>
          <p:nvPr/>
        </p:nvPicPr>
        <p:blipFill rotWithShape="1">
          <a:blip r:embed="rId4">
            <a:alphaModFix/>
          </a:blip>
          <a:srcRect b="0" l="0" r="0" t="0"/>
          <a:stretch/>
        </p:blipFill>
        <p:spPr>
          <a:xfrm>
            <a:off x="514350" y="1730338"/>
            <a:ext cx="8115302" cy="2900596"/>
          </a:xfrm>
          <a:prstGeom prst="rect">
            <a:avLst/>
          </a:prstGeom>
          <a:noFill/>
          <a:ln>
            <a:noFill/>
          </a:ln>
        </p:spPr>
      </p:pic>
      <p:sp>
        <p:nvSpPr>
          <p:cNvPr id="291" name="Google Shape;291;p25"/>
          <p:cNvSpPr txBox="1"/>
          <p:nvPr/>
        </p:nvSpPr>
        <p:spPr>
          <a:xfrm>
            <a:off x="680575" y="359750"/>
            <a:ext cx="4729200" cy="10158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6000"/>
              <a:buFont typeface="Arial"/>
              <a:buNone/>
            </a:pPr>
            <a:r>
              <a:rPr i="0" lang="ru" sz="3000" u="none" cap="none" strike="noStrike">
                <a:solidFill>
                  <a:srgbClr val="FFFFFF"/>
                </a:solidFill>
                <a:latin typeface="Comfortaa SemiBold"/>
                <a:ea typeface="Comfortaa SemiBold"/>
                <a:cs typeface="Comfortaa SemiBold"/>
                <a:sym typeface="Comfortaa SemiBold"/>
              </a:rPr>
              <a:t>Как минимизировать риски?</a:t>
            </a:r>
            <a:endParaRPr sz="3000">
              <a:solidFill>
                <a:srgbClr val="FFFFFF"/>
              </a:solidFill>
              <a:latin typeface="Comfortaa SemiBold"/>
              <a:ea typeface="Comfortaa SemiBold"/>
              <a:cs typeface="Comfortaa SemiBold"/>
              <a:sym typeface="Comfortaa SemiBold"/>
            </a:endParaRPr>
          </a:p>
        </p:txBody>
      </p:sp>
      <p:grpSp>
        <p:nvGrpSpPr>
          <p:cNvPr id="292" name="Google Shape;292;p25"/>
          <p:cNvGrpSpPr/>
          <p:nvPr/>
        </p:nvGrpSpPr>
        <p:grpSpPr>
          <a:xfrm rot="5400000">
            <a:off x="-195803" y="3077289"/>
            <a:ext cx="1404925" cy="204895"/>
            <a:chOff x="0" y="-47625"/>
            <a:chExt cx="812800" cy="118539"/>
          </a:xfrm>
        </p:grpSpPr>
        <p:sp>
          <p:nvSpPr>
            <p:cNvPr id="293" name="Google Shape;293;p2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06D59F"/>
            </a:solidFill>
            <a:ln>
              <a:noFill/>
            </a:ln>
          </p:spPr>
        </p:sp>
        <p:sp>
          <p:nvSpPr>
            <p:cNvPr id="294" name="Google Shape;294;p2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95" name="Google Shape;295;p25"/>
          <p:cNvGrpSpPr/>
          <p:nvPr/>
        </p:nvGrpSpPr>
        <p:grpSpPr>
          <a:xfrm rot="5400000">
            <a:off x="8029637" y="3077289"/>
            <a:ext cx="1404925" cy="204895"/>
            <a:chOff x="0" y="-47625"/>
            <a:chExt cx="812800" cy="118539"/>
          </a:xfrm>
        </p:grpSpPr>
        <p:sp>
          <p:nvSpPr>
            <p:cNvPr id="296" name="Google Shape;296;p25"/>
            <p:cNvSpPr/>
            <p:nvPr/>
          </p:nvSpPr>
          <p:spPr>
            <a:xfrm>
              <a:off x="0" y="0"/>
              <a:ext cx="812800" cy="70914"/>
            </a:xfrm>
            <a:custGeom>
              <a:rect b="b" l="l" r="r" t="t"/>
              <a:pathLst>
                <a:path extrusionOk="0" h="70914" w="812800">
                  <a:moveTo>
                    <a:pt x="0" y="0"/>
                  </a:moveTo>
                  <a:lnTo>
                    <a:pt x="812800" y="0"/>
                  </a:lnTo>
                  <a:lnTo>
                    <a:pt x="812800" y="70914"/>
                  </a:lnTo>
                  <a:lnTo>
                    <a:pt x="0" y="70914"/>
                  </a:lnTo>
                  <a:close/>
                </a:path>
              </a:pathLst>
            </a:custGeom>
            <a:solidFill>
              <a:srgbClr val="06D59F"/>
            </a:solidFill>
            <a:ln>
              <a:noFill/>
            </a:ln>
          </p:spPr>
        </p:sp>
        <p:sp>
          <p:nvSpPr>
            <p:cNvPr id="297" name="Google Shape;297;p25"/>
            <p:cNvSpPr txBox="1"/>
            <p:nvPr/>
          </p:nvSpPr>
          <p:spPr>
            <a:xfrm>
              <a:off x="0" y="-47625"/>
              <a:ext cx="8127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301" name="Shape 301"/>
        <p:cNvGrpSpPr/>
        <p:nvPr/>
      </p:nvGrpSpPr>
      <p:grpSpPr>
        <a:xfrm>
          <a:off x="0" y="0"/>
          <a:ext cx="0" cy="0"/>
          <a:chOff x="0" y="0"/>
          <a:chExt cx="0" cy="0"/>
        </a:xfrm>
      </p:grpSpPr>
      <p:grpSp>
        <p:nvGrpSpPr>
          <p:cNvPr id="302" name="Google Shape;302;p26"/>
          <p:cNvGrpSpPr/>
          <p:nvPr/>
        </p:nvGrpSpPr>
        <p:grpSpPr>
          <a:xfrm>
            <a:off x="406075" y="758278"/>
            <a:ext cx="1395056" cy="1540969"/>
            <a:chOff x="0" y="-47625"/>
            <a:chExt cx="456005" cy="503700"/>
          </a:xfrm>
        </p:grpSpPr>
        <p:sp>
          <p:nvSpPr>
            <p:cNvPr id="303" name="Google Shape;303;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304" name="Google Shape;304;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05" name="Google Shape;305;p26"/>
          <p:cNvGrpSpPr/>
          <p:nvPr/>
        </p:nvGrpSpPr>
        <p:grpSpPr>
          <a:xfrm>
            <a:off x="2641822" y="758278"/>
            <a:ext cx="1395056" cy="1540969"/>
            <a:chOff x="0" y="-47625"/>
            <a:chExt cx="456005" cy="503700"/>
          </a:xfrm>
        </p:grpSpPr>
        <p:sp>
          <p:nvSpPr>
            <p:cNvPr id="306" name="Google Shape;306;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307" name="Google Shape;307;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08" name="Google Shape;308;p26"/>
          <p:cNvGrpSpPr/>
          <p:nvPr/>
        </p:nvGrpSpPr>
        <p:grpSpPr>
          <a:xfrm>
            <a:off x="527357" y="847972"/>
            <a:ext cx="1395056" cy="1540969"/>
            <a:chOff x="0" y="-47625"/>
            <a:chExt cx="456005" cy="503700"/>
          </a:xfrm>
        </p:grpSpPr>
        <p:sp>
          <p:nvSpPr>
            <p:cNvPr id="309" name="Google Shape;309;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10" name="Google Shape;310;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1" name="Google Shape;311;p26"/>
          <p:cNvGrpSpPr/>
          <p:nvPr/>
        </p:nvGrpSpPr>
        <p:grpSpPr>
          <a:xfrm>
            <a:off x="2763105" y="847972"/>
            <a:ext cx="1395056" cy="1540969"/>
            <a:chOff x="0" y="-47625"/>
            <a:chExt cx="456005" cy="503700"/>
          </a:xfrm>
        </p:grpSpPr>
        <p:sp>
          <p:nvSpPr>
            <p:cNvPr id="312" name="Google Shape;312;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13" name="Google Shape;313;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4" name="Google Shape;314;p26"/>
          <p:cNvGrpSpPr/>
          <p:nvPr/>
        </p:nvGrpSpPr>
        <p:grpSpPr>
          <a:xfrm>
            <a:off x="7034375" y="2577950"/>
            <a:ext cx="1795241" cy="2167820"/>
            <a:chOff x="0" y="-47625"/>
            <a:chExt cx="495649" cy="708600"/>
          </a:xfrm>
        </p:grpSpPr>
        <p:sp>
          <p:nvSpPr>
            <p:cNvPr id="315" name="Google Shape;315;p26"/>
            <p:cNvSpPr/>
            <p:nvPr/>
          </p:nvSpPr>
          <p:spPr>
            <a:xfrm>
              <a:off x="0" y="0"/>
              <a:ext cx="495649" cy="660849"/>
            </a:xfrm>
            <a:custGeom>
              <a:rect b="b" l="l" r="r" t="t"/>
              <a:pathLst>
                <a:path extrusionOk="0" h="660849" w="495649">
                  <a:moveTo>
                    <a:pt x="0" y="0"/>
                  </a:moveTo>
                  <a:lnTo>
                    <a:pt x="495649" y="0"/>
                  </a:lnTo>
                  <a:lnTo>
                    <a:pt x="495649" y="660849"/>
                  </a:lnTo>
                  <a:lnTo>
                    <a:pt x="0" y="660849"/>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16" name="Google Shape;316;p26"/>
            <p:cNvSpPr txBox="1"/>
            <p:nvPr/>
          </p:nvSpPr>
          <p:spPr>
            <a:xfrm>
              <a:off x="0" y="-47625"/>
              <a:ext cx="495600" cy="708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7" name="Google Shape;317;p26"/>
          <p:cNvGrpSpPr/>
          <p:nvPr/>
        </p:nvGrpSpPr>
        <p:grpSpPr>
          <a:xfrm>
            <a:off x="4877571" y="758278"/>
            <a:ext cx="1395056" cy="1540969"/>
            <a:chOff x="0" y="-47625"/>
            <a:chExt cx="456005" cy="503700"/>
          </a:xfrm>
        </p:grpSpPr>
        <p:sp>
          <p:nvSpPr>
            <p:cNvPr id="318" name="Google Shape;318;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319" name="Google Shape;319;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0" name="Google Shape;320;p26"/>
          <p:cNvGrpSpPr/>
          <p:nvPr/>
        </p:nvGrpSpPr>
        <p:grpSpPr>
          <a:xfrm>
            <a:off x="4998853" y="847972"/>
            <a:ext cx="1395056" cy="1540969"/>
            <a:chOff x="0" y="-47625"/>
            <a:chExt cx="456005" cy="503700"/>
          </a:xfrm>
        </p:grpSpPr>
        <p:sp>
          <p:nvSpPr>
            <p:cNvPr id="321" name="Google Shape;321;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22" name="Google Shape;322;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3" name="Google Shape;323;p26"/>
          <p:cNvGrpSpPr/>
          <p:nvPr/>
        </p:nvGrpSpPr>
        <p:grpSpPr>
          <a:xfrm>
            <a:off x="7113319" y="758278"/>
            <a:ext cx="1395056" cy="1540969"/>
            <a:chOff x="0" y="-47625"/>
            <a:chExt cx="456005" cy="503700"/>
          </a:xfrm>
        </p:grpSpPr>
        <p:sp>
          <p:nvSpPr>
            <p:cNvPr id="324" name="Google Shape;324;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06D59F"/>
              </a:solidFill>
              <a:prstDash val="solid"/>
              <a:miter lim="8000"/>
              <a:headEnd len="sm" w="sm" type="none"/>
              <a:tailEnd len="sm" w="sm" type="none"/>
            </a:ln>
          </p:spPr>
        </p:sp>
        <p:sp>
          <p:nvSpPr>
            <p:cNvPr id="325" name="Google Shape;325;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6" name="Google Shape;326;p26"/>
          <p:cNvGrpSpPr/>
          <p:nvPr/>
        </p:nvGrpSpPr>
        <p:grpSpPr>
          <a:xfrm>
            <a:off x="7234601" y="847972"/>
            <a:ext cx="1395056" cy="1540969"/>
            <a:chOff x="0" y="-47625"/>
            <a:chExt cx="456005" cy="503700"/>
          </a:xfrm>
        </p:grpSpPr>
        <p:sp>
          <p:nvSpPr>
            <p:cNvPr id="327" name="Google Shape;327;p26"/>
            <p:cNvSpPr/>
            <p:nvPr/>
          </p:nvSpPr>
          <p:spPr>
            <a:xfrm>
              <a:off x="0" y="0"/>
              <a:ext cx="456005" cy="456005"/>
            </a:xfrm>
            <a:custGeom>
              <a:rect b="b" l="l" r="r" t="t"/>
              <a:pathLst>
                <a:path extrusionOk="0" h="456005" w="456005">
                  <a:moveTo>
                    <a:pt x="0" y="0"/>
                  </a:moveTo>
                  <a:lnTo>
                    <a:pt x="456005" y="0"/>
                  </a:lnTo>
                  <a:lnTo>
                    <a:pt x="456005" y="456005"/>
                  </a:lnTo>
                  <a:lnTo>
                    <a:pt x="0" y="456005"/>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28" name="Google Shape;328;p26"/>
            <p:cNvSpPr txBox="1"/>
            <p:nvPr/>
          </p:nvSpPr>
          <p:spPr>
            <a:xfrm>
              <a:off x="0" y="-47625"/>
              <a:ext cx="456000" cy="5037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29" name="Google Shape;329;p26"/>
          <p:cNvSpPr txBox="1"/>
          <p:nvPr/>
        </p:nvSpPr>
        <p:spPr>
          <a:xfrm>
            <a:off x="653635" y="998434"/>
            <a:ext cx="900000" cy="14160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9200"/>
              <a:buFont typeface="Arial"/>
              <a:buNone/>
            </a:pPr>
            <a:r>
              <a:rPr lang="ru" sz="9200">
                <a:solidFill>
                  <a:srgbClr val="FFFFFF"/>
                </a:solidFill>
                <a:latin typeface="Comfortaa"/>
                <a:ea typeface="Comfortaa"/>
                <a:cs typeface="Comfortaa"/>
                <a:sym typeface="Comfortaa"/>
              </a:rPr>
              <a:t>Т</a:t>
            </a:r>
            <a:endParaRPr i="0" sz="700" u="none" cap="none" strike="noStrike">
              <a:solidFill>
                <a:srgbClr val="000000"/>
              </a:solidFill>
              <a:latin typeface="Comfortaa"/>
              <a:ea typeface="Comfortaa"/>
              <a:cs typeface="Comfortaa"/>
              <a:sym typeface="Comfortaa"/>
            </a:endParaRPr>
          </a:p>
        </p:txBody>
      </p:sp>
      <p:sp>
        <p:nvSpPr>
          <p:cNvPr id="330" name="Google Shape;330;p26"/>
          <p:cNvSpPr txBox="1"/>
          <p:nvPr/>
        </p:nvSpPr>
        <p:spPr>
          <a:xfrm>
            <a:off x="2950024" y="998434"/>
            <a:ext cx="900000" cy="14160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9200"/>
              <a:buFont typeface="Arial"/>
              <a:buNone/>
            </a:pPr>
            <a:r>
              <a:rPr lang="ru" sz="9200">
                <a:solidFill>
                  <a:srgbClr val="FFFFFF"/>
                </a:solidFill>
                <a:latin typeface="Comfortaa"/>
                <a:ea typeface="Comfortaa"/>
                <a:cs typeface="Comfortaa"/>
                <a:sym typeface="Comfortaa"/>
              </a:rPr>
              <a:t>Е</a:t>
            </a:r>
            <a:endParaRPr i="0" sz="700" u="none" cap="none" strike="noStrike">
              <a:solidFill>
                <a:srgbClr val="000000"/>
              </a:solidFill>
              <a:latin typeface="Comfortaa"/>
              <a:ea typeface="Comfortaa"/>
              <a:cs typeface="Comfortaa"/>
              <a:sym typeface="Comfortaa"/>
            </a:endParaRPr>
          </a:p>
        </p:txBody>
      </p:sp>
      <p:sp>
        <p:nvSpPr>
          <p:cNvPr id="331" name="Google Shape;331;p26"/>
          <p:cNvSpPr txBox="1"/>
          <p:nvPr/>
        </p:nvSpPr>
        <p:spPr>
          <a:xfrm>
            <a:off x="5186854" y="998434"/>
            <a:ext cx="900000" cy="14160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9200"/>
              <a:buFont typeface="Arial"/>
              <a:buNone/>
            </a:pPr>
            <a:r>
              <a:rPr lang="ru" sz="9200">
                <a:solidFill>
                  <a:srgbClr val="FFFFFF"/>
                </a:solidFill>
                <a:latin typeface="Comfortaa"/>
                <a:ea typeface="Comfortaa"/>
                <a:cs typeface="Comfortaa"/>
                <a:sym typeface="Comfortaa"/>
              </a:rPr>
              <a:t>С</a:t>
            </a:r>
            <a:endParaRPr i="0" sz="700" u="none" cap="none" strike="noStrike">
              <a:solidFill>
                <a:srgbClr val="000000"/>
              </a:solidFill>
              <a:latin typeface="Comfortaa"/>
              <a:ea typeface="Comfortaa"/>
              <a:cs typeface="Comfortaa"/>
              <a:sym typeface="Comfortaa"/>
            </a:endParaRPr>
          </a:p>
        </p:txBody>
      </p:sp>
      <p:sp>
        <p:nvSpPr>
          <p:cNvPr id="332" name="Google Shape;332;p26"/>
          <p:cNvSpPr txBox="1"/>
          <p:nvPr/>
        </p:nvSpPr>
        <p:spPr>
          <a:xfrm>
            <a:off x="7422602" y="998434"/>
            <a:ext cx="900000" cy="14160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9200"/>
              <a:buFont typeface="Arial"/>
              <a:buNone/>
            </a:pPr>
            <a:r>
              <a:rPr lang="ru" sz="9200">
                <a:solidFill>
                  <a:srgbClr val="FFFFFF"/>
                </a:solidFill>
                <a:latin typeface="Comfortaa"/>
                <a:ea typeface="Comfortaa"/>
                <a:cs typeface="Comfortaa"/>
                <a:sym typeface="Comfortaa"/>
              </a:rPr>
              <a:t>Т</a:t>
            </a:r>
            <a:endParaRPr i="0" sz="700" u="none" cap="none" strike="noStrike">
              <a:solidFill>
                <a:srgbClr val="000000"/>
              </a:solidFill>
              <a:latin typeface="Comfortaa"/>
              <a:ea typeface="Comfortaa"/>
              <a:cs typeface="Comfortaa"/>
              <a:sym typeface="Comfortaa"/>
            </a:endParaRPr>
          </a:p>
        </p:txBody>
      </p:sp>
      <p:sp>
        <p:nvSpPr>
          <p:cNvPr id="333" name="Google Shape;333;p26"/>
          <p:cNvSpPr txBox="1"/>
          <p:nvPr/>
        </p:nvSpPr>
        <p:spPr>
          <a:xfrm>
            <a:off x="4878653" y="2875395"/>
            <a:ext cx="1516500" cy="107700"/>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Clr>
                <a:srgbClr val="000000"/>
              </a:buClr>
              <a:buSzPts val="2400"/>
              <a:buFont typeface="Arial"/>
              <a:buNone/>
            </a:pPr>
            <a:r>
              <a:t/>
            </a:r>
            <a:endParaRPr b="0" i="0" sz="700" u="none" cap="none" strike="noStrike">
              <a:solidFill>
                <a:srgbClr val="000000"/>
              </a:solidFill>
              <a:latin typeface="Arial"/>
              <a:ea typeface="Arial"/>
              <a:cs typeface="Arial"/>
              <a:sym typeface="Arial"/>
            </a:endParaRPr>
          </a:p>
        </p:txBody>
      </p:sp>
      <p:sp>
        <p:nvSpPr>
          <p:cNvPr id="334" name="Google Shape;334;p26"/>
          <p:cNvSpPr txBox="1"/>
          <p:nvPr/>
        </p:nvSpPr>
        <p:spPr>
          <a:xfrm>
            <a:off x="7173723" y="3069063"/>
            <a:ext cx="1516500" cy="1408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lang="ru">
                <a:solidFill>
                  <a:srgbClr val="FFFFFF"/>
                </a:solidFill>
                <a:latin typeface="Comfortaa"/>
                <a:ea typeface="Comfortaa"/>
                <a:cs typeface="Comfortaa"/>
                <a:sym typeface="Comfortaa"/>
              </a:rPr>
              <a:t>Тестирование под нагрузкой и в реальных условиях эксплуатации</a:t>
            </a:r>
            <a:endParaRPr i="0" sz="1000" u="none" cap="none" strike="noStrike">
              <a:solidFill>
                <a:srgbClr val="000000"/>
              </a:solidFill>
              <a:latin typeface="Comfortaa"/>
              <a:ea typeface="Comfortaa"/>
              <a:cs typeface="Comfortaa"/>
              <a:sym typeface="Comfortaa"/>
            </a:endParaRPr>
          </a:p>
          <a:p>
            <a:pPr indent="0" lvl="0" marL="0" marR="0" rtl="0" algn="l">
              <a:lnSpc>
                <a:spcPct val="140000"/>
              </a:lnSpc>
              <a:spcBef>
                <a:spcPts val="0"/>
              </a:spcBef>
              <a:spcAft>
                <a:spcPts val="0"/>
              </a:spcAft>
              <a:buClr>
                <a:srgbClr val="000000"/>
              </a:buClr>
              <a:buSzPts val="1100"/>
              <a:buFont typeface="Arial"/>
              <a:buNone/>
            </a:pPr>
            <a:r>
              <a:t/>
            </a:r>
            <a:endParaRPr b="0" i="0" sz="1100" u="none" cap="none" strike="noStrike">
              <a:solidFill>
                <a:srgbClr val="FFFFFF"/>
              </a:solidFill>
              <a:latin typeface="Montserrat"/>
              <a:ea typeface="Montserrat"/>
              <a:cs typeface="Montserrat"/>
              <a:sym typeface="Montserrat"/>
            </a:endParaRPr>
          </a:p>
        </p:txBody>
      </p:sp>
      <p:grpSp>
        <p:nvGrpSpPr>
          <p:cNvPr id="335" name="Google Shape;335;p26"/>
          <p:cNvGrpSpPr/>
          <p:nvPr/>
        </p:nvGrpSpPr>
        <p:grpSpPr>
          <a:xfrm rot="5400000">
            <a:off x="5570046" y="2453765"/>
            <a:ext cx="334983" cy="204895"/>
            <a:chOff x="0" y="-47625"/>
            <a:chExt cx="193800" cy="118539"/>
          </a:xfrm>
        </p:grpSpPr>
        <p:sp>
          <p:nvSpPr>
            <p:cNvPr id="336" name="Google Shape;336;p26"/>
            <p:cNvSpPr/>
            <p:nvPr/>
          </p:nvSpPr>
          <p:spPr>
            <a:xfrm>
              <a:off x="0" y="0"/>
              <a:ext cx="193764" cy="70914"/>
            </a:xfrm>
            <a:custGeom>
              <a:rect b="b" l="l" r="r" t="t"/>
              <a:pathLst>
                <a:path extrusionOk="0" h="70914" w="193764">
                  <a:moveTo>
                    <a:pt x="0" y="0"/>
                  </a:moveTo>
                  <a:lnTo>
                    <a:pt x="193764" y="0"/>
                  </a:lnTo>
                  <a:lnTo>
                    <a:pt x="193764" y="70914"/>
                  </a:lnTo>
                  <a:lnTo>
                    <a:pt x="0" y="70914"/>
                  </a:lnTo>
                  <a:close/>
                </a:path>
              </a:pathLst>
            </a:custGeom>
            <a:solidFill>
              <a:srgbClr val="5CE1E6"/>
            </a:solidFill>
            <a:ln>
              <a:noFill/>
            </a:ln>
          </p:spPr>
        </p:sp>
        <p:sp>
          <p:nvSpPr>
            <p:cNvPr id="337" name="Google Shape;337;p26"/>
            <p:cNvSpPr txBox="1"/>
            <p:nvPr/>
          </p:nvSpPr>
          <p:spPr>
            <a:xfrm>
              <a:off x="0" y="-47625"/>
              <a:ext cx="1938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38" name="Google Shape;338;p26"/>
          <p:cNvGrpSpPr/>
          <p:nvPr/>
        </p:nvGrpSpPr>
        <p:grpSpPr>
          <a:xfrm rot="5400000">
            <a:off x="7834003" y="2454129"/>
            <a:ext cx="334983" cy="204895"/>
            <a:chOff x="0" y="-47625"/>
            <a:chExt cx="193800" cy="118539"/>
          </a:xfrm>
        </p:grpSpPr>
        <p:sp>
          <p:nvSpPr>
            <p:cNvPr id="339" name="Google Shape;339;p26"/>
            <p:cNvSpPr/>
            <p:nvPr/>
          </p:nvSpPr>
          <p:spPr>
            <a:xfrm>
              <a:off x="0" y="0"/>
              <a:ext cx="193764" cy="70914"/>
            </a:xfrm>
            <a:custGeom>
              <a:rect b="b" l="l" r="r" t="t"/>
              <a:pathLst>
                <a:path extrusionOk="0" h="70914" w="193764">
                  <a:moveTo>
                    <a:pt x="0" y="0"/>
                  </a:moveTo>
                  <a:lnTo>
                    <a:pt x="193764" y="0"/>
                  </a:lnTo>
                  <a:lnTo>
                    <a:pt x="193764" y="70914"/>
                  </a:lnTo>
                  <a:lnTo>
                    <a:pt x="0" y="70914"/>
                  </a:lnTo>
                  <a:close/>
                </a:path>
              </a:pathLst>
            </a:custGeom>
            <a:solidFill>
              <a:srgbClr val="5CE1E6"/>
            </a:solidFill>
            <a:ln>
              <a:noFill/>
            </a:ln>
          </p:spPr>
        </p:sp>
        <p:sp>
          <p:nvSpPr>
            <p:cNvPr id="340" name="Google Shape;340;p26"/>
            <p:cNvSpPr txBox="1"/>
            <p:nvPr/>
          </p:nvSpPr>
          <p:spPr>
            <a:xfrm>
              <a:off x="0" y="-47625"/>
              <a:ext cx="1938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1" name="Google Shape;341;p26"/>
          <p:cNvGrpSpPr/>
          <p:nvPr/>
        </p:nvGrpSpPr>
        <p:grpSpPr>
          <a:xfrm rot="5400000">
            <a:off x="3268496" y="2454129"/>
            <a:ext cx="334983" cy="204895"/>
            <a:chOff x="0" y="-47625"/>
            <a:chExt cx="193800" cy="118539"/>
          </a:xfrm>
        </p:grpSpPr>
        <p:sp>
          <p:nvSpPr>
            <p:cNvPr id="342" name="Google Shape;342;p26"/>
            <p:cNvSpPr/>
            <p:nvPr/>
          </p:nvSpPr>
          <p:spPr>
            <a:xfrm>
              <a:off x="0" y="0"/>
              <a:ext cx="193764" cy="70914"/>
            </a:xfrm>
            <a:custGeom>
              <a:rect b="b" l="l" r="r" t="t"/>
              <a:pathLst>
                <a:path extrusionOk="0" h="70914" w="193764">
                  <a:moveTo>
                    <a:pt x="0" y="0"/>
                  </a:moveTo>
                  <a:lnTo>
                    <a:pt x="193764" y="0"/>
                  </a:lnTo>
                  <a:lnTo>
                    <a:pt x="193764" y="70914"/>
                  </a:lnTo>
                  <a:lnTo>
                    <a:pt x="0" y="70914"/>
                  </a:lnTo>
                  <a:close/>
                </a:path>
              </a:pathLst>
            </a:custGeom>
            <a:solidFill>
              <a:srgbClr val="5CE1E6"/>
            </a:solidFill>
            <a:ln>
              <a:noFill/>
            </a:ln>
          </p:spPr>
        </p:sp>
        <p:sp>
          <p:nvSpPr>
            <p:cNvPr id="343" name="Google Shape;343;p26"/>
            <p:cNvSpPr txBox="1"/>
            <p:nvPr/>
          </p:nvSpPr>
          <p:spPr>
            <a:xfrm>
              <a:off x="0" y="-47625"/>
              <a:ext cx="1938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4" name="Google Shape;344;p26"/>
          <p:cNvGrpSpPr/>
          <p:nvPr/>
        </p:nvGrpSpPr>
        <p:grpSpPr>
          <a:xfrm rot="10800000">
            <a:off x="3046761" y="4688283"/>
            <a:ext cx="707302" cy="204895"/>
            <a:chOff x="0" y="-47625"/>
            <a:chExt cx="409200" cy="118539"/>
          </a:xfrm>
        </p:grpSpPr>
        <p:sp>
          <p:nvSpPr>
            <p:cNvPr id="345" name="Google Shape;345;p26"/>
            <p:cNvSpPr/>
            <p:nvPr/>
          </p:nvSpPr>
          <p:spPr>
            <a:xfrm>
              <a:off x="0" y="0"/>
              <a:ext cx="409059" cy="70914"/>
            </a:xfrm>
            <a:custGeom>
              <a:rect b="b" l="l" r="r" t="t"/>
              <a:pathLst>
                <a:path extrusionOk="0" h="70914" w="409059">
                  <a:moveTo>
                    <a:pt x="0" y="0"/>
                  </a:moveTo>
                  <a:lnTo>
                    <a:pt x="409059" y="0"/>
                  </a:lnTo>
                  <a:lnTo>
                    <a:pt x="409059" y="70914"/>
                  </a:lnTo>
                  <a:lnTo>
                    <a:pt x="0" y="70914"/>
                  </a:lnTo>
                  <a:close/>
                </a:path>
              </a:pathLst>
            </a:custGeom>
            <a:solidFill>
              <a:srgbClr val="5CE1E6"/>
            </a:solidFill>
            <a:ln>
              <a:noFill/>
            </a:ln>
          </p:spPr>
        </p:sp>
        <p:sp>
          <p:nvSpPr>
            <p:cNvPr id="346" name="Google Shape;346;p26"/>
            <p:cNvSpPr txBox="1"/>
            <p:nvPr/>
          </p:nvSpPr>
          <p:spPr>
            <a:xfrm>
              <a:off x="0" y="-47625"/>
              <a:ext cx="4092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7" name="Google Shape;347;p26"/>
          <p:cNvGrpSpPr/>
          <p:nvPr/>
        </p:nvGrpSpPr>
        <p:grpSpPr>
          <a:xfrm rot="10800000">
            <a:off x="748536" y="4688283"/>
            <a:ext cx="707302" cy="204895"/>
            <a:chOff x="0" y="-47625"/>
            <a:chExt cx="409200" cy="118539"/>
          </a:xfrm>
        </p:grpSpPr>
        <p:sp>
          <p:nvSpPr>
            <p:cNvPr id="348" name="Google Shape;348;p26"/>
            <p:cNvSpPr/>
            <p:nvPr/>
          </p:nvSpPr>
          <p:spPr>
            <a:xfrm>
              <a:off x="0" y="0"/>
              <a:ext cx="409059" cy="70914"/>
            </a:xfrm>
            <a:custGeom>
              <a:rect b="b" l="l" r="r" t="t"/>
              <a:pathLst>
                <a:path extrusionOk="0" h="70914" w="409059">
                  <a:moveTo>
                    <a:pt x="0" y="0"/>
                  </a:moveTo>
                  <a:lnTo>
                    <a:pt x="409059" y="0"/>
                  </a:lnTo>
                  <a:lnTo>
                    <a:pt x="409059" y="70914"/>
                  </a:lnTo>
                  <a:lnTo>
                    <a:pt x="0" y="70914"/>
                  </a:lnTo>
                  <a:close/>
                </a:path>
              </a:pathLst>
            </a:custGeom>
            <a:solidFill>
              <a:srgbClr val="5CE1E6"/>
            </a:solidFill>
            <a:ln>
              <a:noFill/>
            </a:ln>
          </p:spPr>
        </p:sp>
        <p:sp>
          <p:nvSpPr>
            <p:cNvPr id="349" name="Google Shape;349;p26"/>
            <p:cNvSpPr txBox="1"/>
            <p:nvPr/>
          </p:nvSpPr>
          <p:spPr>
            <a:xfrm>
              <a:off x="0" y="-47625"/>
              <a:ext cx="4092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0" name="Google Shape;350;p26"/>
          <p:cNvGrpSpPr/>
          <p:nvPr/>
        </p:nvGrpSpPr>
        <p:grpSpPr>
          <a:xfrm rot="10800000">
            <a:off x="5281320" y="4688283"/>
            <a:ext cx="707302" cy="204895"/>
            <a:chOff x="0" y="-47625"/>
            <a:chExt cx="409200" cy="118539"/>
          </a:xfrm>
        </p:grpSpPr>
        <p:sp>
          <p:nvSpPr>
            <p:cNvPr id="351" name="Google Shape;351;p26"/>
            <p:cNvSpPr/>
            <p:nvPr/>
          </p:nvSpPr>
          <p:spPr>
            <a:xfrm>
              <a:off x="0" y="0"/>
              <a:ext cx="409059" cy="70914"/>
            </a:xfrm>
            <a:custGeom>
              <a:rect b="b" l="l" r="r" t="t"/>
              <a:pathLst>
                <a:path extrusionOk="0" h="70914" w="409059">
                  <a:moveTo>
                    <a:pt x="0" y="0"/>
                  </a:moveTo>
                  <a:lnTo>
                    <a:pt x="409059" y="0"/>
                  </a:lnTo>
                  <a:lnTo>
                    <a:pt x="409059" y="70914"/>
                  </a:lnTo>
                  <a:lnTo>
                    <a:pt x="0" y="70914"/>
                  </a:lnTo>
                  <a:close/>
                </a:path>
              </a:pathLst>
            </a:custGeom>
            <a:solidFill>
              <a:srgbClr val="5CE1E6"/>
            </a:solidFill>
            <a:ln>
              <a:noFill/>
            </a:ln>
          </p:spPr>
        </p:sp>
        <p:sp>
          <p:nvSpPr>
            <p:cNvPr id="352" name="Google Shape;352;p26"/>
            <p:cNvSpPr txBox="1"/>
            <p:nvPr/>
          </p:nvSpPr>
          <p:spPr>
            <a:xfrm>
              <a:off x="0" y="-47625"/>
              <a:ext cx="4092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3" name="Google Shape;353;p26"/>
          <p:cNvGrpSpPr/>
          <p:nvPr/>
        </p:nvGrpSpPr>
        <p:grpSpPr>
          <a:xfrm rot="10800000">
            <a:off x="7578357" y="4688283"/>
            <a:ext cx="707302" cy="204895"/>
            <a:chOff x="0" y="-47625"/>
            <a:chExt cx="409200" cy="118539"/>
          </a:xfrm>
        </p:grpSpPr>
        <p:sp>
          <p:nvSpPr>
            <p:cNvPr id="354" name="Google Shape;354;p26"/>
            <p:cNvSpPr/>
            <p:nvPr/>
          </p:nvSpPr>
          <p:spPr>
            <a:xfrm>
              <a:off x="0" y="0"/>
              <a:ext cx="409059" cy="70914"/>
            </a:xfrm>
            <a:custGeom>
              <a:rect b="b" l="l" r="r" t="t"/>
              <a:pathLst>
                <a:path extrusionOk="0" h="70914" w="409059">
                  <a:moveTo>
                    <a:pt x="0" y="0"/>
                  </a:moveTo>
                  <a:lnTo>
                    <a:pt x="409059" y="0"/>
                  </a:lnTo>
                  <a:lnTo>
                    <a:pt x="409059" y="70914"/>
                  </a:lnTo>
                  <a:lnTo>
                    <a:pt x="0" y="70914"/>
                  </a:lnTo>
                  <a:close/>
                </a:path>
              </a:pathLst>
            </a:custGeom>
            <a:solidFill>
              <a:srgbClr val="5CE1E6"/>
            </a:solidFill>
            <a:ln>
              <a:noFill/>
            </a:ln>
          </p:spPr>
        </p:sp>
        <p:sp>
          <p:nvSpPr>
            <p:cNvPr id="355" name="Google Shape;355;p26"/>
            <p:cNvSpPr txBox="1"/>
            <p:nvPr/>
          </p:nvSpPr>
          <p:spPr>
            <a:xfrm>
              <a:off x="0" y="-47625"/>
              <a:ext cx="4092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6" name="Google Shape;356;p26"/>
          <p:cNvGrpSpPr/>
          <p:nvPr/>
        </p:nvGrpSpPr>
        <p:grpSpPr>
          <a:xfrm rot="5400000">
            <a:off x="1037262" y="2454129"/>
            <a:ext cx="334983" cy="204895"/>
            <a:chOff x="0" y="-47625"/>
            <a:chExt cx="193800" cy="118539"/>
          </a:xfrm>
        </p:grpSpPr>
        <p:sp>
          <p:nvSpPr>
            <p:cNvPr id="357" name="Google Shape;357;p26"/>
            <p:cNvSpPr/>
            <p:nvPr/>
          </p:nvSpPr>
          <p:spPr>
            <a:xfrm>
              <a:off x="0" y="0"/>
              <a:ext cx="193764" cy="70914"/>
            </a:xfrm>
            <a:custGeom>
              <a:rect b="b" l="l" r="r" t="t"/>
              <a:pathLst>
                <a:path extrusionOk="0" h="70914" w="193764">
                  <a:moveTo>
                    <a:pt x="0" y="0"/>
                  </a:moveTo>
                  <a:lnTo>
                    <a:pt x="193764" y="0"/>
                  </a:lnTo>
                  <a:lnTo>
                    <a:pt x="193764" y="70914"/>
                  </a:lnTo>
                  <a:lnTo>
                    <a:pt x="0" y="70914"/>
                  </a:lnTo>
                  <a:close/>
                </a:path>
              </a:pathLst>
            </a:custGeom>
            <a:solidFill>
              <a:srgbClr val="5CE1E6"/>
            </a:solidFill>
            <a:ln>
              <a:noFill/>
            </a:ln>
          </p:spPr>
        </p:sp>
        <p:sp>
          <p:nvSpPr>
            <p:cNvPr id="358" name="Google Shape;358;p26"/>
            <p:cNvSpPr txBox="1"/>
            <p:nvPr/>
          </p:nvSpPr>
          <p:spPr>
            <a:xfrm>
              <a:off x="0" y="-47625"/>
              <a:ext cx="193800" cy="118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9" name="Google Shape;359;p26"/>
          <p:cNvGrpSpPr/>
          <p:nvPr/>
        </p:nvGrpSpPr>
        <p:grpSpPr>
          <a:xfrm>
            <a:off x="4768587" y="2571750"/>
            <a:ext cx="1795241" cy="2167820"/>
            <a:chOff x="0" y="-47625"/>
            <a:chExt cx="495649" cy="708600"/>
          </a:xfrm>
        </p:grpSpPr>
        <p:sp>
          <p:nvSpPr>
            <p:cNvPr id="360" name="Google Shape;360;p26"/>
            <p:cNvSpPr/>
            <p:nvPr/>
          </p:nvSpPr>
          <p:spPr>
            <a:xfrm>
              <a:off x="0" y="0"/>
              <a:ext cx="495649" cy="660849"/>
            </a:xfrm>
            <a:custGeom>
              <a:rect b="b" l="l" r="r" t="t"/>
              <a:pathLst>
                <a:path extrusionOk="0" h="660849" w="495649">
                  <a:moveTo>
                    <a:pt x="0" y="0"/>
                  </a:moveTo>
                  <a:lnTo>
                    <a:pt x="495649" y="0"/>
                  </a:lnTo>
                  <a:lnTo>
                    <a:pt x="495649" y="660849"/>
                  </a:lnTo>
                  <a:lnTo>
                    <a:pt x="0" y="660849"/>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61" name="Google Shape;361;p26"/>
            <p:cNvSpPr txBox="1"/>
            <p:nvPr/>
          </p:nvSpPr>
          <p:spPr>
            <a:xfrm>
              <a:off x="0" y="-47625"/>
              <a:ext cx="495600" cy="708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2" name="Google Shape;362;p26"/>
          <p:cNvGrpSpPr/>
          <p:nvPr/>
        </p:nvGrpSpPr>
        <p:grpSpPr>
          <a:xfrm>
            <a:off x="2502775" y="2577950"/>
            <a:ext cx="1795241" cy="2167820"/>
            <a:chOff x="0" y="-47625"/>
            <a:chExt cx="495649" cy="708600"/>
          </a:xfrm>
        </p:grpSpPr>
        <p:sp>
          <p:nvSpPr>
            <p:cNvPr id="363" name="Google Shape;363;p26"/>
            <p:cNvSpPr/>
            <p:nvPr/>
          </p:nvSpPr>
          <p:spPr>
            <a:xfrm>
              <a:off x="0" y="0"/>
              <a:ext cx="495649" cy="660849"/>
            </a:xfrm>
            <a:custGeom>
              <a:rect b="b" l="l" r="r" t="t"/>
              <a:pathLst>
                <a:path extrusionOk="0" h="660849" w="495649">
                  <a:moveTo>
                    <a:pt x="0" y="0"/>
                  </a:moveTo>
                  <a:lnTo>
                    <a:pt x="495649" y="0"/>
                  </a:lnTo>
                  <a:lnTo>
                    <a:pt x="495649" y="660849"/>
                  </a:lnTo>
                  <a:lnTo>
                    <a:pt x="0" y="660849"/>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64" name="Google Shape;364;p26"/>
            <p:cNvSpPr txBox="1"/>
            <p:nvPr/>
          </p:nvSpPr>
          <p:spPr>
            <a:xfrm>
              <a:off x="0" y="-47625"/>
              <a:ext cx="495600" cy="708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5" name="Google Shape;365;p26"/>
          <p:cNvGrpSpPr/>
          <p:nvPr/>
        </p:nvGrpSpPr>
        <p:grpSpPr>
          <a:xfrm>
            <a:off x="327262" y="2577950"/>
            <a:ext cx="1795241" cy="2167820"/>
            <a:chOff x="0" y="-47625"/>
            <a:chExt cx="495649" cy="708600"/>
          </a:xfrm>
        </p:grpSpPr>
        <p:sp>
          <p:nvSpPr>
            <p:cNvPr id="366" name="Google Shape;366;p26"/>
            <p:cNvSpPr/>
            <p:nvPr/>
          </p:nvSpPr>
          <p:spPr>
            <a:xfrm>
              <a:off x="0" y="0"/>
              <a:ext cx="495649" cy="660849"/>
            </a:xfrm>
            <a:custGeom>
              <a:rect b="b" l="l" r="r" t="t"/>
              <a:pathLst>
                <a:path extrusionOk="0" h="660849" w="495649">
                  <a:moveTo>
                    <a:pt x="0" y="0"/>
                  </a:moveTo>
                  <a:lnTo>
                    <a:pt x="495649" y="0"/>
                  </a:lnTo>
                  <a:lnTo>
                    <a:pt x="495649" y="660849"/>
                  </a:lnTo>
                  <a:lnTo>
                    <a:pt x="0" y="660849"/>
                  </a:lnTo>
                  <a:close/>
                </a:path>
              </a:pathLst>
            </a:custGeom>
            <a:solidFill>
              <a:srgbClr val="000000">
                <a:alpha val="0"/>
              </a:srgbClr>
            </a:solidFill>
            <a:ln cap="sq" cmpd="sng" w="38100">
              <a:solidFill>
                <a:srgbClr val="5CE1E6"/>
              </a:solidFill>
              <a:prstDash val="solid"/>
              <a:miter lim="8000"/>
              <a:headEnd len="sm" w="sm" type="none"/>
              <a:tailEnd len="sm" w="sm" type="none"/>
            </a:ln>
          </p:spPr>
        </p:sp>
        <p:sp>
          <p:nvSpPr>
            <p:cNvPr id="367" name="Google Shape;367;p26"/>
            <p:cNvSpPr txBox="1"/>
            <p:nvPr/>
          </p:nvSpPr>
          <p:spPr>
            <a:xfrm>
              <a:off x="0" y="-47625"/>
              <a:ext cx="495600" cy="708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8" name="Google Shape;368;p26"/>
          <p:cNvSpPr txBox="1"/>
          <p:nvPr/>
        </p:nvSpPr>
        <p:spPr>
          <a:xfrm>
            <a:off x="4894936" y="3131438"/>
            <a:ext cx="1516500" cy="1408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lang="ru">
                <a:solidFill>
                  <a:srgbClr val="FFFFFF"/>
                </a:solidFill>
                <a:latin typeface="Comfortaa"/>
                <a:ea typeface="Comfortaa"/>
                <a:cs typeface="Comfortaa"/>
                <a:sym typeface="Comfortaa"/>
              </a:rPr>
              <a:t>Создание резервных копий и аварийных систем</a:t>
            </a:r>
            <a:endParaRPr i="0" sz="1000" u="none" cap="none" strike="noStrike">
              <a:solidFill>
                <a:srgbClr val="000000"/>
              </a:solidFill>
              <a:latin typeface="Comfortaa"/>
              <a:ea typeface="Comfortaa"/>
              <a:cs typeface="Comfortaa"/>
              <a:sym typeface="Comfortaa"/>
            </a:endParaRPr>
          </a:p>
          <a:p>
            <a:pPr indent="0" lvl="0" marL="0" marR="0" rtl="0" algn="l">
              <a:lnSpc>
                <a:spcPct val="140000"/>
              </a:lnSpc>
              <a:spcBef>
                <a:spcPts val="0"/>
              </a:spcBef>
              <a:spcAft>
                <a:spcPts val="0"/>
              </a:spcAft>
              <a:buClr>
                <a:srgbClr val="000000"/>
              </a:buClr>
              <a:buSzPts val="1100"/>
              <a:buFont typeface="Arial"/>
              <a:buNone/>
            </a:pPr>
            <a:r>
              <a:t/>
            </a:r>
            <a:endParaRPr b="0" i="0" sz="1100" u="none" cap="none" strike="noStrike">
              <a:solidFill>
                <a:srgbClr val="FFFFFF"/>
              </a:solidFill>
              <a:latin typeface="Montserrat"/>
              <a:ea typeface="Montserrat"/>
              <a:cs typeface="Montserrat"/>
              <a:sym typeface="Montserrat"/>
            </a:endParaRPr>
          </a:p>
        </p:txBody>
      </p:sp>
      <p:sp>
        <p:nvSpPr>
          <p:cNvPr id="369" name="Google Shape;369;p26"/>
          <p:cNvSpPr txBox="1"/>
          <p:nvPr/>
        </p:nvSpPr>
        <p:spPr>
          <a:xfrm>
            <a:off x="2616123" y="3131450"/>
            <a:ext cx="1516500" cy="1408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lang="ru">
                <a:solidFill>
                  <a:srgbClr val="FFFFFF"/>
                </a:solidFill>
                <a:latin typeface="Comfortaa"/>
                <a:ea typeface="Comfortaa"/>
                <a:cs typeface="Comfortaa"/>
                <a:sym typeface="Comfortaa"/>
              </a:rPr>
              <a:t>Единая методология тестирования новых функций и обновлений</a:t>
            </a:r>
            <a:endParaRPr i="0" sz="1000" u="none" cap="none" strike="noStrike">
              <a:solidFill>
                <a:srgbClr val="000000"/>
              </a:solidFill>
              <a:latin typeface="Comfortaa"/>
              <a:ea typeface="Comfortaa"/>
              <a:cs typeface="Comfortaa"/>
              <a:sym typeface="Comfortaa"/>
            </a:endParaRPr>
          </a:p>
          <a:p>
            <a:pPr indent="0" lvl="0" marL="0" marR="0" rtl="0" algn="l">
              <a:lnSpc>
                <a:spcPct val="140000"/>
              </a:lnSpc>
              <a:spcBef>
                <a:spcPts val="0"/>
              </a:spcBef>
              <a:spcAft>
                <a:spcPts val="0"/>
              </a:spcAft>
              <a:buClr>
                <a:srgbClr val="000000"/>
              </a:buClr>
              <a:buSzPts val="1100"/>
              <a:buFont typeface="Arial"/>
              <a:buNone/>
            </a:pPr>
            <a:r>
              <a:t/>
            </a:r>
            <a:endParaRPr b="0" i="0" sz="1100" u="none" cap="none" strike="noStrike">
              <a:solidFill>
                <a:srgbClr val="FFFFFF"/>
              </a:solidFill>
              <a:latin typeface="Montserrat"/>
              <a:ea typeface="Montserrat"/>
              <a:cs typeface="Montserrat"/>
              <a:sym typeface="Montserrat"/>
            </a:endParaRPr>
          </a:p>
        </p:txBody>
      </p:sp>
      <p:sp>
        <p:nvSpPr>
          <p:cNvPr id="370" name="Google Shape;370;p26"/>
          <p:cNvSpPr txBox="1"/>
          <p:nvPr/>
        </p:nvSpPr>
        <p:spPr>
          <a:xfrm>
            <a:off x="463673" y="3192975"/>
            <a:ext cx="1516500" cy="11607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lang="ru">
                <a:solidFill>
                  <a:srgbClr val="FFFFFF"/>
                </a:solidFill>
                <a:latin typeface="Comfortaa"/>
                <a:ea typeface="Comfortaa"/>
                <a:cs typeface="Comfortaa"/>
                <a:sym typeface="Comfortaa"/>
              </a:rPr>
              <a:t>Тщательное тестирование на всех этапах разработки</a:t>
            </a:r>
            <a:endParaRPr i="0" sz="1000" u="none" cap="none" strike="noStrike">
              <a:solidFill>
                <a:srgbClr val="000000"/>
              </a:solidFill>
              <a:latin typeface="Comfortaa"/>
              <a:ea typeface="Comfortaa"/>
              <a:cs typeface="Comfortaa"/>
              <a:sym typeface="Comfortaa"/>
            </a:endParaRPr>
          </a:p>
          <a:p>
            <a:pPr indent="0" lvl="0" marL="0" marR="0" rtl="0" algn="l">
              <a:lnSpc>
                <a:spcPct val="140000"/>
              </a:lnSpc>
              <a:spcBef>
                <a:spcPts val="0"/>
              </a:spcBef>
              <a:spcAft>
                <a:spcPts val="0"/>
              </a:spcAft>
              <a:buClr>
                <a:srgbClr val="000000"/>
              </a:buClr>
              <a:buSzPts val="1100"/>
              <a:buFont typeface="Arial"/>
              <a:buNone/>
            </a:pPr>
            <a:r>
              <a:t/>
            </a:r>
            <a:endParaRPr b="0" i="0" sz="11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A38"/>
        </a:solidFill>
      </p:bgPr>
    </p:bg>
    <p:spTree>
      <p:nvGrpSpPr>
        <p:cNvPr id="374" name="Shape 374"/>
        <p:cNvGrpSpPr/>
        <p:nvPr/>
      </p:nvGrpSpPr>
      <p:grpSpPr>
        <a:xfrm>
          <a:off x="0" y="0"/>
          <a:ext cx="0" cy="0"/>
          <a:chOff x="0" y="0"/>
          <a:chExt cx="0" cy="0"/>
        </a:xfrm>
      </p:grpSpPr>
      <p:pic>
        <p:nvPicPr>
          <p:cNvPr id="375" name="Google Shape;375;p27"/>
          <p:cNvPicPr preferRelativeResize="0"/>
          <p:nvPr/>
        </p:nvPicPr>
        <p:blipFill rotWithShape="1">
          <a:blip r:embed="rId3">
            <a:alphaModFix/>
          </a:blip>
          <a:srcRect b="0" l="0" r="0" t="0"/>
          <a:stretch/>
        </p:blipFill>
        <p:spPr>
          <a:xfrm>
            <a:off x="-284033" y="-87475"/>
            <a:ext cx="9554524" cy="5318439"/>
          </a:xfrm>
          <a:prstGeom prst="rect">
            <a:avLst/>
          </a:prstGeom>
          <a:noFill/>
          <a:ln>
            <a:noFill/>
          </a:ln>
        </p:spPr>
      </p:pic>
      <p:sp>
        <p:nvSpPr>
          <p:cNvPr id="376" name="Google Shape;376;p27"/>
          <p:cNvSpPr txBox="1"/>
          <p:nvPr/>
        </p:nvSpPr>
        <p:spPr>
          <a:xfrm>
            <a:off x="2000850" y="483725"/>
            <a:ext cx="5971200" cy="677100"/>
          </a:xfrm>
          <a:prstGeom prst="rect">
            <a:avLst/>
          </a:prstGeom>
          <a:noFill/>
          <a:ln>
            <a:noFill/>
          </a:ln>
        </p:spPr>
        <p:txBody>
          <a:bodyPr anchorCtr="0" anchor="t" bIns="91425" lIns="91425" spcFirstLastPara="1" rIns="91425" wrap="square" tIns="91425">
            <a:spAutoFit/>
          </a:bodyPr>
          <a:lstStyle/>
          <a:p>
            <a:pPr indent="0" lvl="0" marL="0" rtl="0" algn="l">
              <a:lnSpc>
                <a:spcPct val="120005"/>
              </a:lnSpc>
              <a:spcBef>
                <a:spcPts val="0"/>
              </a:spcBef>
              <a:spcAft>
                <a:spcPts val="0"/>
              </a:spcAft>
              <a:buNone/>
            </a:pPr>
            <a:r>
              <a:rPr b="1" lang="ru" sz="3200">
                <a:solidFill>
                  <a:srgbClr val="F9CB9C"/>
                </a:solidFill>
                <a:latin typeface="Comfortaa"/>
                <a:ea typeface="Comfortaa"/>
                <a:cs typeface="Comfortaa"/>
                <a:sym typeface="Comfortaa"/>
              </a:rPr>
              <a:t>Спасибо за внимание!</a:t>
            </a:r>
            <a:endParaRPr b="1" sz="1900">
              <a:solidFill>
                <a:srgbClr val="F9CB9C"/>
              </a:solidFill>
            </a:endParaRPr>
          </a:p>
        </p:txBody>
      </p:sp>
      <p:pic>
        <p:nvPicPr>
          <p:cNvPr id="377" name="Google Shape;377;p27"/>
          <p:cNvPicPr preferRelativeResize="0"/>
          <p:nvPr/>
        </p:nvPicPr>
        <p:blipFill>
          <a:blip r:embed="rId4">
            <a:alphaModFix/>
          </a:blip>
          <a:stretch>
            <a:fillRect/>
          </a:stretch>
        </p:blipFill>
        <p:spPr>
          <a:xfrm>
            <a:off x="2787373" y="1254125"/>
            <a:ext cx="3739799" cy="37134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